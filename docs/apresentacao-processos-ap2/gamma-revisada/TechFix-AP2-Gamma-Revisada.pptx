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Ancizar Serif SemiBold" panose="020A0002070300000003" pitchFamily="18" charset="0"/>
      <p:bold r:id="rId16"/>
    </p:embeddedFont>
    <p:embeddedFont>
      <p:font typeface="IBM Plex Mono" panose="020B0509050203000203" pitchFamily="49" charset="0"/>
      <p:regular r:id="rId17"/>
    </p:embeddedFont>
    <p:embeddedFont>
      <p:font typeface="Mozilla Text" pitchFamily="2" charset="0"/>
      <p:regular r:id="rId18"/>
    </p:embeddedFont>
    <p:embeddedFont>
      <p:font typeface="Mozilla Text SemiBold" pitchFamily="2" charset="0"/>
      <p:bold r:id="rId1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2400D-157E-47A3-9DA3-363C71CF08CC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04164-2AE7-4834-8AFE-4CB3723EC5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51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Somos Arthur e Lucas. Nesta AP2 de Processos de Engenharia de Software, vamos mostrar como organizamos o trabalho e como processo, planejamento, modelos e arquitetura se conectam. Vamos usar a abertura de uma ordem de serviço como exemplo ao longo da apresentação.</a:t>
            </a:r>
          </a:p>
          <a:p>
            <a:endParaRPr lang="pt-BR"/>
          </a:p>
          <a:p>
            <a:r>
              <a:rPr lang="pt-BR"/>
              <a:t>Tempo: 15 segundos.</a:t>
            </a:r>
          </a:p>
          <a:p>
            <a:r>
              <a:rPr lang="pt-BR"/>
              <a:t>Fontes: A7-Processo-Entrega-Final.md; A8-Entrega-Final-Revisada.md; Modelagem-Entrega-Final.md; A10-Arquitetura-Rastreabilidade-Final.md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9186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descoberta foi documentada na A3 como entrevista semiestruturada simulada com Marcos Almeida, atendente. O problema é o atendimento registrado em papel ou planilhas, que dificulta localizar informações e acompanhar o serviço. RF03, RF04 e RF05 da A3 tratam de OS, estado e técnico responsável. A4 consolida as necessidades e A5 refina critérios e prioridades. A numeração mudou: RF03 na A3 trata de OS; RF3 na A4/A5 trata de consulta e histórico. A AP2 organiza como construir essa solução.</a:t>
            </a:r>
          </a:p>
          <a:p>
            <a:endParaRPr lang="pt-BR"/>
          </a:p>
          <a:p>
            <a:r>
              <a:rPr lang="pt-BR"/>
              <a:t>Tempo: 35 segundos.</a:t>
            </a:r>
          </a:p>
          <a:p>
            <a:r>
              <a:rPr lang="pt-BR"/>
              <a:t>Fontes: Atividade_03_Levantamento_Requisitos_TechFix.pdf, p. 1–2, §3 e §4.1; docs/Atividade04.md, RE1–RE3; A5 §2.2.2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2288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A2 escolheu desenvolvimento incremental com práticas ágeis, e confirmamos o ciclo iterativo e incremental. Na A7 definimos Scrum, com Sprints planejadas de uma semana. Essa cadência permite selecionar trabalho conforme nossa disponibilidade e revisar o resultado. Eu acumulo Scrum Master e desenvolvimento. Lucas também desenvolve, participa das estimativas e revisa minhas alterações; eu reviso as dele. Chico Mosca representa a assistência como Product Owner, ordenando necessidades e validando o resultado de negócio. A divisão inicial dá foco à interface para mim e às regras e persistência para Lucas, mas ambos precisam compreender o sistema. Não estamos afirmando um histórico de Sprints executadas.</a:t>
            </a:r>
          </a:p>
          <a:p>
            <a:endParaRPr lang="pt-BR"/>
          </a:p>
          <a:p>
            <a:r>
              <a:rPr lang="pt-BR"/>
              <a:t>Tempo: 55 segundos.</a:t>
            </a:r>
          </a:p>
          <a:p>
            <a:r>
              <a:rPr lang="pt-BR"/>
              <a:t>Fontes: docs/entregas-processos/atividade02-12-08.pdf, seção 2; A7-Processo-Entrega-Final.md, 2.1–2.3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5965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tarefa nasce de um requisito e entra no backlog. No planejamento selecionamos o que cabe na Sprint e definimos executor e revisor. Depois vêm desenvolvimento, revisão pelo colega e verificação. A tarefa só fica pronta tecnicamente quando atende aos critérios de aceitação, tem revisão registrada, testes pertinentes e documentação atualizada. Na validação, Chico observa o resultado apresentado pela interface. Conclusão técnica e validação de negócio são registros diferentes. Se houver falha, corrigimos; se surgir uma nova necessidade, ela volta ao backlog. Isso aplica a melhoria que Arthur propôs na A6: revisar antes de dar algo por concluído.</a:t>
            </a:r>
          </a:p>
          <a:p>
            <a:endParaRPr lang="pt-BR"/>
          </a:p>
          <a:p>
            <a:r>
              <a:rPr lang="pt-BR"/>
              <a:t>Tempo: 45 segundos.</a:t>
            </a:r>
          </a:p>
          <a:p>
            <a:r>
              <a:rPr lang="pt-BR"/>
              <a:t>Fontes: A7-Processo-Entrega-Final.md, 2.4–2.5; Atividade_06_Reflexao_Individual_Arthur_Scharfenberger.pdf, plano de melhoria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8367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backlog revisado tem nove itens e cobre os oito requisitos e histórias priorizados na A5. O primeiro incremento permite receber e localizar um atendimento: acesso por perfil, cadastro, abertura, consulta por número e histórico inicial. O segundo permite acompanhar e concluir o serviço: atribuição ao técnico, início e conclusão, buscas complementares e comprovação de desempenho. São recortes de valor ao usuário e podem ocupar várias Sprints. O histórico começa no I1 e acompanha as atualizações do I2. Pagamento online, avaliação e relatório gerencial ficaram fora desta linha de base porque não têm requisito correspondente na A5.</a:t>
            </a:r>
          </a:p>
          <a:p>
            <a:endParaRPr lang="pt-BR"/>
          </a:p>
          <a:p>
            <a:r>
              <a:rPr lang="pt-BR"/>
              <a:t>Tempo: 55 segundos.</a:t>
            </a:r>
          </a:p>
          <a:p>
            <a:r>
              <a:rPr lang="pt-BR"/>
              <a:t>Fontes: A8-Entrega-Final-Revisada.md, 2.1–2.2, 2.4 e 2.6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085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Usamos P, M e G como tamanhos relativos. A8R04, a busca exata por número, é a referência P. A8R02 é M porque envolve campos, validações e relacionamentos. Autorização e desempenho são G pela incerteza e verificação transversal. O tamanho inclui implementação e verificação, sem equivalência fixa em horas. Os valores documentados continuam propostos enquanto não registrarmos o consenso. Para fechá-lo, cada um estima, comparamos respostas, discutimos diferenças e registramos o argumento do acordo.</a:t>
            </a:r>
          </a:p>
          <a:p>
            <a:endParaRPr lang="pt-BR"/>
          </a:p>
          <a:p>
            <a:r>
              <a:rPr lang="pt-BR"/>
              <a:t>Tempo: 45 segundos.</a:t>
            </a:r>
          </a:p>
          <a:p>
            <a:r>
              <a:rPr lang="pt-BR"/>
              <a:t>Fontes: A8-Entrega-Final-Revisada.md, 2.2–2.4; Registro-Revisao-Equipe.md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603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Classificamos probabilidade e impacto de um a três. O produto define o nível: um a dois é baixo, três a quatro moderado e seis a nove alto. O risco de acesso indevido tem nove porque o login atual é local no navegador e não comprova segurança no servidor. A mitigação é autorização no servidor e teste de acesso direto, bloqueando implantação enquanto falhar. Perder histórico tem seis: mudança da OS e evento devem ser gravados juntos. O risco de desempenho tem quatro; exige massa de até dez mil OS e medição por operação. O risco de escopo tem nove e é tratado mantendo o vínculo A5 e backlog. Responsáveis propostos: Arthur em escopo e acesso, Lucas em histórico e desempenho.</a:t>
            </a:r>
          </a:p>
          <a:p>
            <a:endParaRPr lang="pt-BR"/>
          </a:p>
          <a:p>
            <a:r>
              <a:rPr lang="pt-BR"/>
              <a:t>Tempo: 55 segundos.</a:t>
            </a:r>
          </a:p>
          <a:p>
            <a:r>
              <a:rPr lang="pt-BR"/>
              <a:t>Fontes: A8-Entrega-Final-Revisada.md, 2.5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028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Modelamos A8R02 e A8R03 porque cadastro e abertura iniciam o atendimento. Este slide reorganiza para leitura o fluxo da A9. Primeiro o atendente precisa de identidade e permissão válidas. Depois seleciona ou cadastra cliente e equipamento, com validação de obrigatórios e vínculo. A confirmação grava OS e evento inicial de histórico juntos. Só o sucesso apresenta número, data e estado ABERTA. A utilidade do fluxograma é explicitar decisões e exceções: negar acesso, corrigir campos e preservar dados se a gravação falhar. O esboço trazia principalmente o caminho de sucesso; a versão final inclui esses retornos.</a:t>
            </a:r>
          </a:p>
          <a:p>
            <a:endParaRPr lang="pt-BR"/>
          </a:p>
          <a:p>
            <a:r>
              <a:rPr lang="pt-BR"/>
              <a:t>Tempo: 55 segundos.</a:t>
            </a:r>
          </a:p>
          <a:p>
            <a:r>
              <a:rPr lang="pt-BR"/>
              <a:t>Fontes: Modelagem-Entrega-Final.md, 2.1–2.2 e 2.5; final-fluxograma.png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847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wireframe mostra onde o atendente realiza o fluxo. Ele seleciona o cliente e vê somente equipamentos vinculados a esse cliente. Se necessário, usa o cadastro rápido com nome, telefone, tipo e defeito. Número, data e estado são gerados pelo sistema. No sucesso, a tela apresenta o protocolo; na falha, mantém o formulário. Este desenho ajuda a discutir campos e mensagens com o PO antes da implementação integrada. Fluxograma e wireframe são complementares: um mostra sequência e exceções, o outro mostra a interação. Os textos de sucesso e falha neste modelo são estados alternativos.</a:t>
            </a:r>
          </a:p>
          <a:p>
            <a:endParaRPr lang="pt-BR"/>
          </a:p>
          <a:p>
            <a:r>
              <a:rPr lang="pt-BR"/>
              <a:t>Tempo: 55 segundos.</a:t>
            </a:r>
          </a:p>
          <a:p>
            <a:r>
              <a:rPr lang="pt-BR"/>
              <a:t>Fontes: Modelagem-Entrega-Final.md, 2.3–2.4; final-wireframe.png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6912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arquitetura tem quatro responsabilidades. C1 é a interface. C2 recebe operações e aplica as regras. C3 identifica o usuário e verifica permissões no servidor. C4 persiste os dados e o histórico. A interface chama a API, a API consulta a autorização e só então executa a operação. A interface não acessa diretamente o banco. Na abertura, OS e evento inicial precisam ser gravados na mesma transação. A divisão permite trabalhar em componentes diferentes e fazer revisão cruzada, como pede a A7. Não exige microsserviços; os componentes podem estar na mesma aplicação. Hoje o frontend usa armazenamento local e o Java executa separadamente. API, autenticação de servidor, banco e integração são propostos.</a:t>
            </a:r>
          </a:p>
          <a:p>
            <a:endParaRPr lang="pt-BR"/>
          </a:p>
          <a:p>
            <a:r>
              <a:rPr lang="pt-BR"/>
              <a:t>Tempo: 65 segundos.</a:t>
            </a:r>
          </a:p>
          <a:p>
            <a:r>
              <a:rPr lang="pt-BR"/>
              <a:t>Fontes: A10-Arquitetura-Rastreabilidade-Final.md, 2.2–2.4 e 2.7; A10-Arquitetura.svg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4961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Vamos percorrer RF2 desde a origem. Na A3, página 2, seção 3, o resumo da entrevista simulada com Marcos Almeida registra OS, estados e técnico responsável. A seção 4.1 os identifica como RF03, RF04 e RF05. A A4 consolida a necessidade em RE2, RF2 e RN1; HU1 e HU2 representam atendente e técnico. A A5 refina critérios e prioridades. No backlog, A8R03 abre a OS no I1; A8R06 e A8R07 tratam de início e conclusão no I2. A9 detalha abertura com fluxograma e wireframe. A10 atribui à interface a interação, à lógica a criação e o ciclo, à autorização o controle de acesso e à persistência a OS e os eventos. Esse caminho permite verificar de onde vem o trabalho e por que os componentes existem. A simulação da A3 é a origem documental, não uma entrevista real comprovada.</a:t>
            </a:r>
          </a:p>
          <a:p>
            <a:endParaRPr lang="pt-BR"/>
          </a:p>
          <a:p>
            <a:r>
              <a:rPr lang="pt-BR"/>
              <a:t>Tempo: 70 segundos.</a:t>
            </a:r>
          </a:p>
          <a:p>
            <a:r>
              <a:rPr lang="pt-BR"/>
              <a:t>Fontes: Atividade_03_Levantamento_Requisitos_TechFix.pdf, p. 2, §3 e §4.1 RF03–RF05 → docs/Atividade04.md RE2/RF2/RN1/HU1/HU2 → A5 §2.2.2 → A8 §2.2 R03/R06/R07 → Modelagem §2.2–2.3 → A10 §2.5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5846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Esta matriz reúne os oito requisitos e histórias da linha de base. Cada linha identifica a origem na A3, os itens do backlog, o modelo ou a decisão que especifica o comportamento e os componentes responsáveis. RF1 segue até cadastro; RF2 e RN1 seguem até abertura e ciclo da OS; RF3 cobre pesquisa e histórico. RNF2 atravessa os fluxos com autorização, e RNF1 exige medição. HU1 e HU2 representam as perspectivas do atendente e do técnico, sem duplicar trabalho. Os modelos da A9 detalham cadastro e abertura; a tela do técnico ainda será detalhada. A matriz completa está na A10, seção 2.5.</a:t>
            </a:r>
          </a:p>
          <a:p>
            <a:endParaRPr lang="pt-BR"/>
          </a:p>
          <a:p>
            <a:r>
              <a:rPr lang="pt-BR"/>
              <a:t>Tempo: 45 segundos.</a:t>
            </a:r>
          </a:p>
          <a:p>
            <a:r>
              <a:rPr lang="pt-BR"/>
              <a:t>Fontes: A10-Arquitetura-Rastreabilidade-Final.md, 2.5; A8-Entrega-Final-Revisada.md, 2.2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670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Arthur: A7 define como trabalhamos e verificamos. A8 organiza o que entrega valor e a ordem do trabalho. A9 explicita o comportamento esperado. A10 distribui responsabilidades e permite rastrear cada requisito até o componente que o atende. Essa conexão orienta as mudanças e ajuda a verificar se algum requisito ficou sem cobertura. Lucas: Na AS, precisamos integrar interface, API e banco, aplicar autorização no servidor e testar regras, estados e falhas. Hoje a interface utiliza armazenamento local e o Java executa separadamente. Para RNF1, pelo menos 95% das operações devem levar até dois segundos com base de até dez mil OS; ambiente e cenário precisam ser registrados. São critérios planejados, não resultados já obtidos. Vamos usar essas evidências para corrigir e evoluir o produto. Agora abrimos para perguntas.</a:t>
            </a:r>
          </a:p>
          <a:p>
            <a:endParaRPr lang="pt-BR"/>
          </a:p>
          <a:p>
            <a:r>
              <a:rPr lang="pt-BR"/>
              <a:t>Tempo: 65 segundos.</a:t>
            </a:r>
          </a:p>
          <a:p>
            <a:r>
              <a:rPr lang="pt-BR"/>
              <a:t>Fontes: A7 §2.5; A8 §2.4–2.5; A10 §2.6–2.8; síntese de A7–A10</a:t>
            </a:r>
          </a:p>
          <a:p>
            <a:r>
              <a:rPr lang="pt-BR"/>
              <a:t>Referência visual: docs/entregas-processos/ap2.pdf, produzido pela equipe no Gamma.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4164-2AE7-4834-8AFE-4CB3723EC5B3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220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B3AC8-52FB-353D-2B12-DD6AA077B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C20CDE-5D6E-26DA-6ABD-DB64C664A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F8D661-7A4B-959E-F46A-4BD28CCE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6F51-BE2F-41F7-A46A-925E159381D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E88485-383D-924F-9E23-6EBA654E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6486F0-C079-8E51-C5BB-57B85ACF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AAF-8BEF-4BAE-9D83-585D06DEF9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068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C2244-D2A7-EAAD-38EE-02C1E61A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6A27DD-1055-9F01-C046-19A2068E3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409FB8-D073-1264-D402-5FDBE91A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6F51-BE2F-41F7-A46A-925E159381D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2581AE-B935-0D17-8753-B008D14F7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56FDAB-B3F9-5C31-0E72-025A67CF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AAF-8BEF-4BAE-9D83-585D06DEF9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75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3B2A06-0A6C-8DEE-2837-9F04ED926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D70984-D795-D084-7E6A-150E921F6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D081E3-E2C5-4704-EF4A-F54273DD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6F51-BE2F-41F7-A46A-925E159381D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E51556-A713-3665-35BA-7C8525C2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455652-AD4E-2791-7687-57F13B7C9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AAF-8BEF-4BAE-9D83-585D06DEF9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94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4A0B2-BA75-483D-8D0F-986FB9B4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63AD5D-47BF-A321-A4D1-600F5E81E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B80B20-D206-25AC-C834-3EA9D35E1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0A4342-2BCF-B7C4-90A3-AE2EE4E46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6F51-BE2F-41F7-A46A-925E159381D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E319A7-5AAF-1E93-A447-489936E19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9C558F-F50A-BFB1-3BC8-3F42C5770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AAF-8BEF-4BAE-9D83-585D06DEF9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353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18B76-7820-4D72-8335-8260E964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204A2E-4392-BFB7-804C-3EA239030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59548F-5FBE-1DD1-C2B2-EF1763DBF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1D5D546-31AC-1D82-028A-1666361F2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C3BFEE0-AFC9-83CF-8373-533DCDB21F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1273DD-1AE9-E473-F67E-C46AA2285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6F51-BE2F-41F7-A46A-925E159381D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2A362FA-BA43-4CFF-EE35-6F488F11E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030A14-D554-2891-5D29-74D6ED87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AAF-8BEF-4BAE-9D83-585D06DEF9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3417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D1B8B-A844-8EB0-BB4D-36BB705F0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5D0C5F-B627-9037-9E90-67FF7CEB4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6F51-BE2F-41F7-A46A-925E159381D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4F1512-B1F1-B794-71C5-8458B4FC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BF9723-83EA-41A2-EC5F-401A0A02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AAF-8BEF-4BAE-9D83-585D06DEF9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811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B096136-21A3-0888-2F33-C76DE2F1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6F51-BE2F-41F7-A46A-925E159381D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AF0AB33-39B9-D2CF-ACB5-3DC789CA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AD2019-CBE2-6F11-1370-9BADB0E7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AAF-8BEF-4BAE-9D83-585D06DEF9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377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74997-F7BD-3F2E-5650-85770B1A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B5A354-88F6-C569-9E5A-508BBF8A4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910C52-5A29-0DF1-EC5A-6F4F97572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2E9B5E-0F31-8047-846E-7EF37A86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6F51-BE2F-41F7-A46A-925E159381D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7D45C2-9330-0F22-53FB-F8895ED8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6954BA-AE21-FDEA-3C17-2F524B2A0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AAF-8BEF-4BAE-9D83-585D06DEF9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7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8D11FB-2B31-E9D8-A305-A3D6A0ACD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CE2E59F-5617-8C6B-31AB-1CF7FCA33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9765EC-E1F7-A4A2-A099-E27B12570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E0D7A1-7E4A-CD76-3DFD-FEDB4BF28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6F51-BE2F-41F7-A46A-925E159381D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5953A2-AFA2-4E21-F3CA-CD638946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E3FD68-CB30-8784-7352-2953D78E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AAF-8BEF-4BAE-9D83-585D06DEF9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359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5EE4C-674A-5007-448E-5C981449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A9C09E-C44E-69CD-2142-EED48AB10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643A73-DA69-7635-4389-EB4BB922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6F51-BE2F-41F7-A46A-925E159381D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0C4B1E-ABD6-2D24-2E6B-DCA2EC2E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C4B5B9-555C-526B-0004-2923C6BC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AAF-8BEF-4BAE-9D83-585D06DEF9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33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C595F0-9B42-3710-54C1-5156E31FF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5B0047-CC27-DE84-0648-F8A6B1305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92DBEA-3701-A6E4-D42F-24DA2254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6F51-BE2F-41F7-A46A-925E159381D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2DDA30-DE4B-190E-1153-9D1EC936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207797-8007-909B-2515-C8AB67FEF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60AAF-8BEF-4BAE-9D83-585D06DEF9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54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BD14691-5609-3358-3EC6-A4E28924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525AD0-CBAB-1773-8EB0-C48406B4B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FB53C2-2633-2183-512A-A7528BFB0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76F51-BE2F-41F7-A46A-925E159381D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F79E37-2AD8-59A2-C87F-344FF997BF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8F08BF-5809-08A9-7AD1-5CBB8EED4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60AAF-8BEF-4BAE-9D83-585D06DEF9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848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8B57BD6-5599-F932-B630-0943931C790C}"/>
              </a:ext>
            </a:extLst>
          </p:cNvPr>
          <p:cNvSpPr/>
          <p:nvPr/>
        </p:nvSpPr>
        <p:spPr>
          <a:xfrm>
            <a:off x="0" y="0"/>
            <a:ext cx="3251200" cy="6858000"/>
          </a:xfrm>
          <a:prstGeom prst="rect">
            <a:avLst/>
          </a:prstGeom>
          <a:solidFill>
            <a:srgbClr val="116B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F89F8E4-5847-A314-D838-EE3E23FDE7B7}"/>
              </a:ext>
            </a:extLst>
          </p:cNvPr>
          <p:cNvSpPr txBox="1"/>
          <p:nvPr/>
        </p:nvSpPr>
        <p:spPr>
          <a:xfrm>
            <a:off x="457200" y="457199"/>
            <a:ext cx="2222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FFFFFF"/>
                </a:solidFill>
                <a:latin typeface="IBM Plex Mono" panose="020B0509050203000203" pitchFamily="49" charset="0"/>
              </a:rPr>
              <a:t>TECHFIX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23C5E3-FDC6-57E0-E146-B7941CE44711}"/>
              </a:ext>
            </a:extLst>
          </p:cNvPr>
          <p:cNvSpPr txBox="1"/>
          <p:nvPr/>
        </p:nvSpPr>
        <p:spPr>
          <a:xfrm>
            <a:off x="457200" y="5524499"/>
            <a:ext cx="25146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FFFFFF"/>
                </a:solidFill>
                <a:latin typeface="Mozilla Text" pitchFamily="2" charset="0"/>
              </a:rPr>
              <a:t>Processos de Engenharia
de Software
AP2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1C2AB7-CBEF-D282-7E1D-81675223F4D2}"/>
              </a:ext>
            </a:extLst>
          </p:cNvPr>
          <p:cNvSpPr txBox="1"/>
          <p:nvPr/>
        </p:nvSpPr>
        <p:spPr>
          <a:xfrm>
            <a:off x="3937000" y="1854199"/>
            <a:ext cx="75819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DO REQUISITO AO COMPONENTE QUE O ATENDE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F4E9BF-C91B-3946-E487-04E3DEE3BE78}"/>
              </a:ext>
            </a:extLst>
          </p:cNvPr>
          <p:cNvSpPr txBox="1"/>
          <p:nvPr/>
        </p:nvSpPr>
        <p:spPr>
          <a:xfrm>
            <a:off x="3937000" y="2247899"/>
            <a:ext cx="76200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6400">
                <a:solidFill>
                  <a:srgbClr val="16354D"/>
                </a:solidFill>
                <a:latin typeface="Ancizar Serif SemiBold" panose="020A0002070300000003" pitchFamily="18" charset="0"/>
              </a:rPr>
              <a:t>TechFix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6D46EA1-296A-D8A9-848A-FA515BCA7376}"/>
              </a:ext>
            </a:extLst>
          </p:cNvPr>
          <p:cNvSpPr txBox="1"/>
          <p:nvPr/>
        </p:nvSpPr>
        <p:spPr>
          <a:xfrm>
            <a:off x="3937000" y="3301999"/>
            <a:ext cx="76962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4800">
                <a:solidFill>
                  <a:srgbClr val="16354D"/>
                </a:solidFill>
                <a:latin typeface="Ancizar Serif SemiBold" panose="020A0002070300000003" pitchFamily="18" charset="0"/>
              </a:rPr>
              <a:t>Assistência Técnica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41E2B5B-8618-B80F-7D02-B8FFC37E6E65}"/>
              </a:ext>
            </a:extLst>
          </p:cNvPr>
          <p:cNvCxnSpPr/>
          <p:nvPr/>
        </p:nvCxnSpPr>
        <p:spPr>
          <a:xfrm>
            <a:off x="3937000" y="4191000"/>
            <a:ext cx="7556500" cy="0"/>
          </a:xfrm>
          <a:prstGeom prst="line">
            <a:avLst/>
          </a:prstGeom>
          <a:ln w="15240">
            <a:solidFill>
              <a:srgbClr val="116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96B756-2812-E67B-1B0F-4E70D298E568}"/>
              </a:ext>
            </a:extLst>
          </p:cNvPr>
          <p:cNvSpPr txBox="1"/>
          <p:nvPr/>
        </p:nvSpPr>
        <p:spPr>
          <a:xfrm>
            <a:off x="3937000" y="4457699"/>
            <a:ext cx="7620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Arthur Scharfenberger e Lucas Oliveira da Silva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BB6576A-C87D-8265-7A48-A1A06D599134}"/>
              </a:ext>
            </a:extLst>
          </p:cNvPr>
          <p:cNvSpPr txBox="1"/>
          <p:nvPr/>
        </p:nvSpPr>
        <p:spPr>
          <a:xfrm>
            <a:off x="3937000" y="4889499"/>
            <a:ext cx="762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07/10/2026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AC8ABE0-6F4A-DD75-FE2F-690C9EA96630}"/>
              </a:ext>
            </a:extLst>
          </p:cNvPr>
          <p:cNvSpPr txBox="1"/>
          <p:nvPr/>
        </p:nvSpPr>
        <p:spPr>
          <a:xfrm>
            <a:off x="3937000" y="6540500"/>
            <a:ext cx="7581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01 · Arthur  /  AP2 · PROCESSOS</a:t>
            </a:r>
          </a:p>
        </p:txBody>
      </p:sp>
    </p:spTree>
    <p:extLst>
      <p:ext uri="{BB962C8B-B14F-4D97-AF65-F5344CB8AC3E}">
        <p14:creationId xmlns:p14="http://schemas.microsoft.com/office/powerpoint/2010/main" val="1011744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A0CC267-0587-1EB1-9700-991EFDD0B877}"/>
              </a:ext>
            </a:extLst>
          </p:cNvPr>
          <p:cNvSpPr txBox="1"/>
          <p:nvPr/>
        </p:nvSpPr>
        <p:spPr>
          <a:xfrm>
            <a:off x="609600" y="3556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REQUISITOS · A3–A5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CE0FB3-FC49-8F0D-C392-C7C795B057D0}"/>
              </a:ext>
            </a:extLst>
          </p:cNvPr>
          <p:cNvSpPr txBox="1"/>
          <p:nvPr/>
        </p:nvSpPr>
        <p:spPr>
          <a:xfrm>
            <a:off x="609600" y="736599"/>
            <a:ext cx="109728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3200">
                <a:solidFill>
                  <a:srgbClr val="16354D"/>
                </a:solidFill>
                <a:latin typeface="Ancizar Serif SemiBold" panose="020A0002070300000003" pitchFamily="18" charset="0"/>
              </a:rPr>
              <a:t>Papel e planilhas dificultam
acompanhar os atendimentos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9AAB462-0300-AB44-F79E-DFD3CAEA7831}"/>
              </a:ext>
            </a:extLst>
          </p:cNvPr>
          <p:cNvCxnSpPr/>
          <p:nvPr/>
        </p:nvCxnSpPr>
        <p:spPr>
          <a:xfrm>
            <a:off x="609600" y="2933700"/>
            <a:ext cx="3352800" cy="0"/>
          </a:xfrm>
          <a:prstGeom prst="line">
            <a:avLst/>
          </a:prstGeom>
          <a:ln w="3810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41A46B8B-7B93-47BB-4CFC-80BDCDE95D93}"/>
              </a:ext>
            </a:extLst>
          </p:cNvPr>
          <p:cNvSpPr txBox="1"/>
          <p:nvPr/>
        </p:nvSpPr>
        <p:spPr>
          <a:xfrm>
            <a:off x="838200" y="3225799"/>
            <a:ext cx="311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RF1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B81D4D-27F1-AEA6-43E6-9F4C130BF7C5}"/>
              </a:ext>
            </a:extLst>
          </p:cNvPr>
          <p:cNvSpPr txBox="1"/>
          <p:nvPr/>
        </p:nvSpPr>
        <p:spPr>
          <a:xfrm>
            <a:off x="838200" y="3657599"/>
            <a:ext cx="31115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700">
                <a:solidFill>
                  <a:srgbClr val="4A1F24"/>
                </a:solidFill>
                <a:latin typeface="Ancizar Serif SemiBold" panose="020A0002070300000003" pitchFamily="18" charset="0"/>
              </a:rPr>
              <a:t>Cadastro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B532383-AFEE-7A1B-1440-3443F0C02BBC}"/>
              </a:ext>
            </a:extLst>
          </p:cNvPr>
          <p:cNvSpPr txBox="1"/>
          <p:nvPr/>
        </p:nvSpPr>
        <p:spPr>
          <a:xfrm>
            <a:off x="838200" y="4076699"/>
            <a:ext cx="31115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Identificar clientes e
equipamentos.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B6DCBC22-C336-B4AA-E4A3-651B36DA132E}"/>
              </a:ext>
            </a:extLst>
          </p:cNvPr>
          <p:cNvCxnSpPr/>
          <p:nvPr/>
        </p:nvCxnSpPr>
        <p:spPr>
          <a:xfrm>
            <a:off x="4419600" y="2933700"/>
            <a:ext cx="3352800" cy="0"/>
          </a:xfrm>
          <a:prstGeom prst="line">
            <a:avLst/>
          </a:prstGeom>
          <a:ln w="3810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61C78D-B23B-30A9-D4AD-49518A3ACB7A}"/>
              </a:ext>
            </a:extLst>
          </p:cNvPr>
          <p:cNvSpPr txBox="1"/>
          <p:nvPr/>
        </p:nvSpPr>
        <p:spPr>
          <a:xfrm>
            <a:off x="4648200" y="3225799"/>
            <a:ext cx="311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RF2 e RN1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2B6DDF9-4CAC-AD1B-B900-E14D1A3188A0}"/>
              </a:ext>
            </a:extLst>
          </p:cNvPr>
          <p:cNvSpPr txBox="1"/>
          <p:nvPr/>
        </p:nvSpPr>
        <p:spPr>
          <a:xfrm>
            <a:off x="4648200" y="3657599"/>
            <a:ext cx="31115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700">
                <a:solidFill>
                  <a:srgbClr val="4A1F24"/>
                </a:solidFill>
                <a:latin typeface="Ancizar Serif SemiBold" panose="020A0002070300000003" pitchFamily="18" charset="0"/>
              </a:rPr>
              <a:t>Ordem de serviço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6F2A0AD-C756-6612-560E-72D9BCBF1BC6}"/>
              </a:ext>
            </a:extLst>
          </p:cNvPr>
          <p:cNvSpPr txBox="1"/>
          <p:nvPr/>
        </p:nvSpPr>
        <p:spPr>
          <a:xfrm>
            <a:off x="4648200" y="4076699"/>
            <a:ext cx="31115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Criar e acompanhar OS, com
estado e técnico responsável.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DF0812B-8D53-305A-E4A6-E46A50D37F0E}"/>
              </a:ext>
            </a:extLst>
          </p:cNvPr>
          <p:cNvCxnSpPr/>
          <p:nvPr/>
        </p:nvCxnSpPr>
        <p:spPr>
          <a:xfrm>
            <a:off x="8229600" y="2933700"/>
            <a:ext cx="3352800" cy="0"/>
          </a:xfrm>
          <a:prstGeom prst="line">
            <a:avLst/>
          </a:prstGeom>
          <a:ln w="3810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418E4D9-2620-FCA6-4746-3FF48A10BC70}"/>
              </a:ext>
            </a:extLst>
          </p:cNvPr>
          <p:cNvSpPr txBox="1"/>
          <p:nvPr/>
        </p:nvSpPr>
        <p:spPr>
          <a:xfrm>
            <a:off x="8458200" y="3225799"/>
            <a:ext cx="311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RF3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F5C1366-9673-2A02-B5DE-F1D812D1C2AD}"/>
              </a:ext>
            </a:extLst>
          </p:cNvPr>
          <p:cNvSpPr txBox="1"/>
          <p:nvPr/>
        </p:nvSpPr>
        <p:spPr>
          <a:xfrm>
            <a:off x="8458200" y="3657599"/>
            <a:ext cx="31115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700">
                <a:solidFill>
                  <a:srgbClr val="4A1F24"/>
                </a:solidFill>
                <a:latin typeface="Ancizar Serif SemiBold" panose="020A0002070300000003" pitchFamily="18" charset="0"/>
              </a:rPr>
              <a:t>Pesquisa e histórico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E0F3A0C-A4CB-32FE-4018-FB03E497BBB5}"/>
              </a:ext>
            </a:extLst>
          </p:cNvPr>
          <p:cNvSpPr txBox="1"/>
          <p:nvPr/>
        </p:nvSpPr>
        <p:spPr>
          <a:xfrm>
            <a:off x="8458200" y="4076699"/>
            <a:ext cx="31115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Pesquisar atendimentos e
consultar o histórico.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BE6EF54E-AD24-22CE-E236-E6DBA41B8F77}"/>
              </a:ext>
            </a:extLst>
          </p:cNvPr>
          <p:cNvCxnSpPr/>
          <p:nvPr/>
        </p:nvCxnSpPr>
        <p:spPr>
          <a:xfrm>
            <a:off x="609600" y="5778500"/>
            <a:ext cx="10972800" cy="0"/>
          </a:xfrm>
          <a:prstGeom prst="line">
            <a:avLst/>
          </a:prstGeom>
          <a:ln w="15240">
            <a:solidFill>
              <a:srgbClr val="116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23966F4-3F2D-95B4-CDF1-11FFDC4487A7}"/>
              </a:ext>
            </a:extLst>
          </p:cNvPr>
          <p:cNvSpPr txBox="1"/>
          <p:nvPr/>
        </p:nvSpPr>
        <p:spPr>
          <a:xfrm>
            <a:off x="609600" y="6007099"/>
            <a:ext cx="109728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A3: entrevista simulada com Marcos Almeida. A4/A5 consolidam e refinam os requisitos.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1696D7A-2A89-718A-186D-1AA9D1229BAB}"/>
              </a:ext>
            </a:extLst>
          </p:cNvPr>
          <p:cNvSpPr txBox="1"/>
          <p:nvPr/>
        </p:nvSpPr>
        <p:spPr>
          <a:xfrm>
            <a:off x="609600" y="6591300"/>
            <a:ext cx="10731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02 · Arthur  /  TECHFIX · AP2</a:t>
            </a:r>
          </a:p>
        </p:txBody>
      </p:sp>
    </p:spTree>
    <p:extLst>
      <p:ext uri="{BB962C8B-B14F-4D97-AF65-F5344CB8AC3E}">
        <p14:creationId xmlns:p14="http://schemas.microsoft.com/office/powerpoint/2010/main" val="917738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BC61EFA-B6D0-9736-B7B8-E566B099894D}"/>
              </a:ext>
            </a:extLst>
          </p:cNvPr>
          <p:cNvSpPr txBox="1"/>
          <p:nvPr/>
        </p:nvSpPr>
        <p:spPr>
          <a:xfrm>
            <a:off x="609600" y="3556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A7 · ORGANIZAÇÃO PROPOSTA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F4FEEF8-BC3B-688D-A6CA-4D87F182262F}"/>
              </a:ext>
            </a:extLst>
          </p:cNvPr>
          <p:cNvSpPr txBox="1"/>
          <p:nvPr/>
        </p:nvSpPr>
        <p:spPr>
          <a:xfrm>
            <a:off x="609600" y="736599"/>
            <a:ext cx="109728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3200">
                <a:solidFill>
                  <a:srgbClr val="16354D"/>
                </a:solidFill>
                <a:latin typeface="Ancizar Serif SemiBold" panose="020A0002070300000003" pitchFamily="18" charset="0"/>
              </a:rPr>
              <a:t>Scrum em Sprints de uma semana,
com papéis claros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74B47B5-B923-95C8-A500-A3A8A2DE67EF}"/>
              </a:ext>
            </a:extLst>
          </p:cNvPr>
          <p:cNvSpPr txBox="1"/>
          <p:nvPr/>
        </p:nvSpPr>
        <p:spPr>
          <a:xfrm>
            <a:off x="609600" y="1917699"/>
            <a:ext cx="109728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Coerente com o ciclo iterativo e incremental da A2: dois desenvolvedores, entregas pequenas, feedback e revisão frequente.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5086141-9BC6-9671-C43D-7B77B95FBB1C}"/>
              </a:ext>
            </a:extLst>
          </p:cNvPr>
          <p:cNvSpPr/>
          <p:nvPr/>
        </p:nvSpPr>
        <p:spPr>
          <a:xfrm>
            <a:off x="609600" y="3009900"/>
            <a:ext cx="3454400" cy="22098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C5D4AE5-DC91-4B52-9EC5-293394AE94EE}"/>
              </a:ext>
            </a:extLst>
          </p:cNvPr>
          <p:cNvSpPr txBox="1"/>
          <p:nvPr/>
        </p:nvSpPr>
        <p:spPr>
          <a:xfrm>
            <a:off x="838200" y="3263899"/>
            <a:ext cx="30480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00">
                <a:solidFill>
                  <a:srgbClr val="272525"/>
                </a:solidFill>
                <a:latin typeface="IBM Plex Mono" panose="020B0509050203000203" pitchFamily="49" charset="0"/>
              </a:rPr>
              <a:t>SCRUM MASTER E DESENVOLVEDOR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4D80CC-15ED-1566-3E88-8C4FECA1FFF8}"/>
              </a:ext>
            </a:extLst>
          </p:cNvPr>
          <p:cNvSpPr txBox="1"/>
          <p:nvPr/>
        </p:nvSpPr>
        <p:spPr>
          <a:xfrm>
            <a:off x="838200" y="3695699"/>
            <a:ext cx="30226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4A1F24"/>
                </a:solidFill>
                <a:latin typeface="Ancizar Serif SemiBold" panose="020A0002070300000003" pitchFamily="18" charset="0"/>
              </a:rPr>
              <a:t>Arthur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36C5D0C-2E28-8F4F-37A8-36B6106BE0C1}"/>
              </a:ext>
            </a:extLst>
          </p:cNvPr>
          <p:cNvSpPr txBox="1"/>
          <p:nvPr/>
        </p:nvSpPr>
        <p:spPr>
          <a:xfrm>
            <a:off x="838200" y="4241799"/>
            <a:ext cx="29972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Interface e integração.
Facilita o fluxo e acompanha
impedimentos.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8B600AA-DA72-E4EF-CC08-F64CB7B04090}"/>
              </a:ext>
            </a:extLst>
          </p:cNvPr>
          <p:cNvSpPr/>
          <p:nvPr/>
        </p:nvSpPr>
        <p:spPr>
          <a:xfrm>
            <a:off x="4419600" y="3009900"/>
            <a:ext cx="3454400" cy="22098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F9134E7-F5E7-6CC8-02C5-D9F4E0A76B8D}"/>
              </a:ext>
            </a:extLst>
          </p:cNvPr>
          <p:cNvSpPr txBox="1"/>
          <p:nvPr/>
        </p:nvSpPr>
        <p:spPr>
          <a:xfrm>
            <a:off x="4648200" y="3263899"/>
            <a:ext cx="30480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00">
                <a:solidFill>
                  <a:srgbClr val="272525"/>
                </a:solidFill>
                <a:latin typeface="IBM Plex Mono" panose="020B0509050203000203" pitchFamily="49" charset="0"/>
              </a:rPr>
              <a:t>DESENVOLVEDOR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46705D-E4A2-F052-5FBB-3631FDCF6341}"/>
              </a:ext>
            </a:extLst>
          </p:cNvPr>
          <p:cNvSpPr txBox="1"/>
          <p:nvPr/>
        </p:nvSpPr>
        <p:spPr>
          <a:xfrm>
            <a:off x="4648200" y="3695699"/>
            <a:ext cx="30226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4A1F24"/>
                </a:solidFill>
                <a:latin typeface="Ancizar Serif SemiBold" panose="020A0002070300000003" pitchFamily="18" charset="0"/>
              </a:rPr>
              <a:t>Lucas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169F3B0-A134-D515-25EE-DF80E4A8DEE0}"/>
              </a:ext>
            </a:extLst>
          </p:cNvPr>
          <p:cNvSpPr txBox="1"/>
          <p:nvPr/>
        </p:nvSpPr>
        <p:spPr>
          <a:xfrm>
            <a:off x="4648200" y="4241799"/>
            <a:ext cx="29972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Regras de negócio, persistência
e testes. Participa do
planejamento e da revisão.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33FF60E-D9B4-8577-1EB6-B89250F7B224}"/>
              </a:ext>
            </a:extLst>
          </p:cNvPr>
          <p:cNvSpPr/>
          <p:nvPr/>
        </p:nvSpPr>
        <p:spPr>
          <a:xfrm>
            <a:off x="8229600" y="3009900"/>
            <a:ext cx="3454400" cy="22098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13362CF-C3F5-1834-9248-2AAAAA74D81C}"/>
              </a:ext>
            </a:extLst>
          </p:cNvPr>
          <p:cNvSpPr txBox="1"/>
          <p:nvPr/>
        </p:nvSpPr>
        <p:spPr>
          <a:xfrm>
            <a:off x="8458200" y="3263899"/>
            <a:ext cx="30480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00">
                <a:solidFill>
                  <a:srgbClr val="272525"/>
                </a:solidFill>
                <a:latin typeface="IBM Plex Mono" panose="020B0509050203000203" pitchFamily="49" charset="0"/>
              </a:rPr>
              <a:t>PO INDICADO NO PLANEJAMENTO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6FAE34C-2CEC-DC89-5495-BF74C22F00FF}"/>
              </a:ext>
            </a:extLst>
          </p:cNvPr>
          <p:cNvSpPr txBox="1"/>
          <p:nvPr/>
        </p:nvSpPr>
        <p:spPr>
          <a:xfrm>
            <a:off x="8458200" y="3695699"/>
            <a:ext cx="30226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4A1F24"/>
                </a:solidFill>
                <a:latin typeface="Ancizar Serif SemiBold" panose="020A0002070300000003" pitchFamily="18" charset="0"/>
              </a:rPr>
              <a:t>Chico Mosca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6FE4E7D-A13F-DAB3-9851-5ACC6EA51E50}"/>
              </a:ext>
            </a:extLst>
          </p:cNvPr>
          <p:cNvSpPr txBox="1"/>
          <p:nvPr/>
        </p:nvSpPr>
        <p:spPr>
          <a:xfrm>
            <a:off x="8458200" y="4241799"/>
            <a:ext cx="29972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Ordena necessidades e valida
o resultado. Agenda de
feedback a combinar.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C5C9267-5484-E77B-80E7-671C4B11F677}"/>
              </a:ext>
            </a:extLst>
          </p:cNvPr>
          <p:cNvSpPr txBox="1"/>
          <p:nvPr/>
        </p:nvSpPr>
        <p:spPr>
          <a:xfrm>
            <a:off x="609600" y="59308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116B70"/>
                </a:solidFill>
                <a:latin typeface="Mozilla Text" pitchFamily="2" charset="0"/>
              </a:rPr>
              <a:t>Revisão cruzada: ambos precisam compreender todo o sistema.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2731EEA-E11F-751F-3B55-C0CF1E145963}"/>
              </a:ext>
            </a:extLst>
          </p:cNvPr>
          <p:cNvSpPr txBox="1"/>
          <p:nvPr/>
        </p:nvSpPr>
        <p:spPr>
          <a:xfrm>
            <a:off x="609600" y="6591300"/>
            <a:ext cx="10731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03 · Arthur  /  TECHFIX · AP2</a:t>
            </a:r>
          </a:p>
        </p:txBody>
      </p:sp>
    </p:spTree>
    <p:extLst>
      <p:ext uri="{BB962C8B-B14F-4D97-AF65-F5344CB8AC3E}">
        <p14:creationId xmlns:p14="http://schemas.microsoft.com/office/powerpoint/2010/main" val="299227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A9FCBD3-6453-4ABC-6C65-DD843C1C690B}"/>
              </a:ext>
            </a:extLst>
          </p:cNvPr>
          <p:cNvSpPr txBox="1"/>
          <p:nvPr/>
        </p:nvSpPr>
        <p:spPr>
          <a:xfrm>
            <a:off x="609600" y="3556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en-US" sz="1050">
                <a:solidFill>
                  <a:srgbClr val="6E4F4A"/>
                </a:solidFill>
                <a:latin typeface="IBM Plex Mono" panose="020B0509050203000203" pitchFamily="49" charset="0"/>
              </a:rPr>
              <a:t>A7 · FLUXO E DEFINITION OF DONE</a:t>
            </a:r>
            <a:endParaRPr lang="pt-BR" sz="1050">
              <a:solidFill>
                <a:srgbClr val="6E4F4A"/>
              </a:solidFill>
              <a:latin typeface="IBM Plex Mono" panose="020B0509050203000203" pitchFamily="49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A5EC74-F87B-A602-2DDC-12C9370CDDF6}"/>
              </a:ext>
            </a:extLst>
          </p:cNvPr>
          <p:cNvSpPr txBox="1"/>
          <p:nvPr/>
        </p:nvSpPr>
        <p:spPr>
          <a:xfrm>
            <a:off x="609600" y="736599"/>
            <a:ext cx="109728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3200">
                <a:solidFill>
                  <a:srgbClr val="16354D"/>
                </a:solidFill>
                <a:latin typeface="Ancizar Serif SemiBold" panose="020A0002070300000003" pitchFamily="18" charset="0"/>
              </a:rPr>
              <a:t>Uma tarefa só está pronta
depois da revisão do colega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114CBA2-6E08-7906-8098-B4AC252CB486}"/>
              </a:ext>
            </a:extLst>
          </p:cNvPr>
          <p:cNvSpPr txBox="1"/>
          <p:nvPr/>
        </p:nvSpPr>
        <p:spPr>
          <a:xfrm>
            <a:off x="609600" y="2235199"/>
            <a:ext cx="16891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4A1F24"/>
                </a:solidFill>
                <a:latin typeface="IBM Plex Mono" panose="020B0509050203000203" pitchFamily="49" charset="0"/>
              </a:rPr>
              <a:t>01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718EC004-43C1-FA41-531D-AD07DBBE14C3}"/>
              </a:ext>
            </a:extLst>
          </p:cNvPr>
          <p:cNvCxnSpPr/>
          <p:nvPr/>
        </p:nvCxnSpPr>
        <p:spPr>
          <a:xfrm>
            <a:off x="609600" y="2578100"/>
            <a:ext cx="1689100" cy="0"/>
          </a:xfrm>
          <a:prstGeom prst="line">
            <a:avLst/>
          </a:prstGeom>
          <a:ln w="1905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B9CC7D32-87BA-E153-CE0C-F9BA682BABD7}"/>
              </a:ext>
            </a:extLst>
          </p:cNvPr>
          <p:cNvSpPr txBox="1"/>
          <p:nvPr/>
        </p:nvSpPr>
        <p:spPr>
          <a:xfrm>
            <a:off x="609600" y="2717799"/>
            <a:ext cx="16891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700">
                <a:solidFill>
                  <a:srgbClr val="4A1F24"/>
                </a:solidFill>
                <a:latin typeface="Ancizar Serif SemiBold" panose="020A0002070300000003" pitchFamily="18" charset="0"/>
              </a:rPr>
              <a:t>Backlog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BF8DBD-6D4C-6626-1051-9A9A4E1BBD30}"/>
              </a:ext>
            </a:extLst>
          </p:cNvPr>
          <p:cNvSpPr txBox="1"/>
          <p:nvPr/>
        </p:nvSpPr>
        <p:spPr>
          <a:xfrm>
            <a:off x="2463800" y="2235199"/>
            <a:ext cx="16891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4A1F24"/>
                </a:solidFill>
                <a:latin typeface="IBM Plex Mono" panose="020B0509050203000203" pitchFamily="49" charset="0"/>
              </a:rPr>
              <a:t>02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E5DED4D8-50C0-E9ED-2F5C-64ED8DABFCE2}"/>
              </a:ext>
            </a:extLst>
          </p:cNvPr>
          <p:cNvCxnSpPr/>
          <p:nvPr/>
        </p:nvCxnSpPr>
        <p:spPr>
          <a:xfrm>
            <a:off x="2463800" y="2578100"/>
            <a:ext cx="1689100" cy="0"/>
          </a:xfrm>
          <a:prstGeom prst="line">
            <a:avLst/>
          </a:prstGeom>
          <a:ln w="1905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CD761388-AC0E-069A-FC7C-30691AFF39A4}"/>
              </a:ext>
            </a:extLst>
          </p:cNvPr>
          <p:cNvSpPr txBox="1"/>
          <p:nvPr/>
        </p:nvSpPr>
        <p:spPr>
          <a:xfrm>
            <a:off x="2463800" y="2717799"/>
            <a:ext cx="16891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700">
                <a:solidFill>
                  <a:srgbClr val="4A1F24"/>
                </a:solidFill>
                <a:latin typeface="Ancizar Serif SemiBold" panose="020A0002070300000003" pitchFamily="18" charset="0"/>
              </a:rPr>
              <a:t>Seleção para
a Sprint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92CB0B-D5BC-330D-9EAE-B4289BD5D9B7}"/>
              </a:ext>
            </a:extLst>
          </p:cNvPr>
          <p:cNvSpPr txBox="1"/>
          <p:nvPr/>
        </p:nvSpPr>
        <p:spPr>
          <a:xfrm>
            <a:off x="4318000" y="2235199"/>
            <a:ext cx="16891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4A1F24"/>
                </a:solidFill>
                <a:latin typeface="IBM Plex Mono" panose="020B0509050203000203" pitchFamily="49" charset="0"/>
              </a:rPr>
              <a:t>03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521ED1D-44EE-0109-1591-D14729E79EAB}"/>
              </a:ext>
            </a:extLst>
          </p:cNvPr>
          <p:cNvCxnSpPr/>
          <p:nvPr/>
        </p:nvCxnSpPr>
        <p:spPr>
          <a:xfrm>
            <a:off x="4318000" y="2578100"/>
            <a:ext cx="1689100" cy="0"/>
          </a:xfrm>
          <a:prstGeom prst="line">
            <a:avLst/>
          </a:prstGeom>
          <a:ln w="1905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A500DF0-0A7A-762C-217C-1126B8374966}"/>
              </a:ext>
            </a:extLst>
          </p:cNvPr>
          <p:cNvSpPr txBox="1"/>
          <p:nvPr/>
        </p:nvSpPr>
        <p:spPr>
          <a:xfrm>
            <a:off x="4318000" y="2717799"/>
            <a:ext cx="16891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700">
                <a:solidFill>
                  <a:srgbClr val="4A1F24"/>
                </a:solidFill>
                <a:latin typeface="Ancizar Serif SemiBold" panose="020A0002070300000003" pitchFamily="18" charset="0"/>
              </a:rPr>
              <a:t>Desenvolvimento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639113-5C12-9662-B6CB-D96AF41CA784}"/>
              </a:ext>
            </a:extLst>
          </p:cNvPr>
          <p:cNvSpPr txBox="1"/>
          <p:nvPr/>
        </p:nvSpPr>
        <p:spPr>
          <a:xfrm>
            <a:off x="6172200" y="2235199"/>
            <a:ext cx="16891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4A1F24"/>
                </a:solidFill>
                <a:latin typeface="IBM Plex Mono" panose="020B0509050203000203" pitchFamily="49" charset="0"/>
              </a:rPr>
              <a:t>04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D5D27BA3-A673-EAFF-9804-C32EDCBD6FFC}"/>
              </a:ext>
            </a:extLst>
          </p:cNvPr>
          <p:cNvCxnSpPr/>
          <p:nvPr/>
        </p:nvCxnSpPr>
        <p:spPr>
          <a:xfrm>
            <a:off x="6172200" y="2578100"/>
            <a:ext cx="1689100" cy="0"/>
          </a:xfrm>
          <a:prstGeom prst="line">
            <a:avLst/>
          </a:prstGeom>
          <a:ln w="1905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9428E53-A3D4-9114-F5D2-29553B1F6071}"/>
              </a:ext>
            </a:extLst>
          </p:cNvPr>
          <p:cNvSpPr txBox="1"/>
          <p:nvPr/>
        </p:nvSpPr>
        <p:spPr>
          <a:xfrm>
            <a:off x="6172200" y="2717799"/>
            <a:ext cx="16891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700">
                <a:solidFill>
                  <a:srgbClr val="4A1F24"/>
                </a:solidFill>
                <a:latin typeface="Ancizar Serif SemiBold" panose="020A0002070300000003" pitchFamily="18" charset="0"/>
              </a:rPr>
              <a:t>Revisão pelo
colega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2D23DE7-84A2-1595-B72D-94ECB2B1F432}"/>
              </a:ext>
            </a:extLst>
          </p:cNvPr>
          <p:cNvSpPr txBox="1"/>
          <p:nvPr/>
        </p:nvSpPr>
        <p:spPr>
          <a:xfrm>
            <a:off x="8026400" y="2235199"/>
            <a:ext cx="16891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4A1F24"/>
                </a:solidFill>
                <a:latin typeface="IBM Plex Mono" panose="020B0509050203000203" pitchFamily="49" charset="0"/>
              </a:rPr>
              <a:t>05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8F601076-CA7A-D6A8-79C9-73E0DDA391E0}"/>
              </a:ext>
            </a:extLst>
          </p:cNvPr>
          <p:cNvCxnSpPr/>
          <p:nvPr/>
        </p:nvCxnSpPr>
        <p:spPr>
          <a:xfrm>
            <a:off x="8026400" y="2578100"/>
            <a:ext cx="1689100" cy="0"/>
          </a:xfrm>
          <a:prstGeom prst="line">
            <a:avLst/>
          </a:prstGeom>
          <a:ln w="1905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83CD413-730C-59B9-2D83-1C01DB4528AE}"/>
              </a:ext>
            </a:extLst>
          </p:cNvPr>
          <p:cNvSpPr txBox="1"/>
          <p:nvPr/>
        </p:nvSpPr>
        <p:spPr>
          <a:xfrm>
            <a:off x="8026400" y="2717799"/>
            <a:ext cx="16891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700">
                <a:solidFill>
                  <a:srgbClr val="4A1F24"/>
                </a:solidFill>
                <a:latin typeface="Ancizar Serif SemiBold" panose="020A0002070300000003" pitchFamily="18" charset="0"/>
              </a:rPr>
              <a:t>Verificação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1CEAADB-6B36-1E6A-CF4B-DCBE7D34A58C}"/>
              </a:ext>
            </a:extLst>
          </p:cNvPr>
          <p:cNvSpPr txBox="1"/>
          <p:nvPr/>
        </p:nvSpPr>
        <p:spPr>
          <a:xfrm>
            <a:off x="9880600" y="2235199"/>
            <a:ext cx="16891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4A1F24"/>
                </a:solidFill>
                <a:latin typeface="IBM Plex Mono" panose="020B0509050203000203" pitchFamily="49" charset="0"/>
              </a:rPr>
              <a:t>06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1E25CAC-D140-79A9-8919-B68776C4DE77}"/>
              </a:ext>
            </a:extLst>
          </p:cNvPr>
          <p:cNvCxnSpPr/>
          <p:nvPr/>
        </p:nvCxnSpPr>
        <p:spPr>
          <a:xfrm>
            <a:off x="9880600" y="2578100"/>
            <a:ext cx="1689100" cy="0"/>
          </a:xfrm>
          <a:prstGeom prst="line">
            <a:avLst/>
          </a:prstGeom>
          <a:ln w="1905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0D85EE0-07F3-6018-3099-8E7A0B80D39B}"/>
              </a:ext>
            </a:extLst>
          </p:cNvPr>
          <p:cNvSpPr txBox="1"/>
          <p:nvPr/>
        </p:nvSpPr>
        <p:spPr>
          <a:xfrm>
            <a:off x="9880600" y="2717799"/>
            <a:ext cx="16891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700">
                <a:solidFill>
                  <a:srgbClr val="4A1F24"/>
                </a:solidFill>
                <a:latin typeface="Ancizar Serif SemiBold" panose="020A0002070300000003" pitchFamily="18" charset="0"/>
              </a:rPr>
              <a:t>Pronta
tecnicamente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B99F8E8-EA89-1B6A-AD14-CFC5DBAFF251}"/>
              </a:ext>
            </a:extLst>
          </p:cNvPr>
          <p:cNvSpPr txBox="1"/>
          <p:nvPr/>
        </p:nvSpPr>
        <p:spPr>
          <a:xfrm>
            <a:off x="609600" y="3555999"/>
            <a:ext cx="10972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Falha identificada → correção · Nova necessidade → backlog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E556608-9BEF-17A2-9DEA-9D5FC49B70E6}"/>
              </a:ext>
            </a:extLst>
          </p:cNvPr>
          <p:cNvSpPr txBox="1"/>
          <p:nvPr/>
        </p:nvSpPr>
        <p:spPr>
          <a:xfrm>
            <a:off x="609600" y="4190999"/>
            <a:ext cx="5778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DoD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4153778-EDC0-3548-7C5B-5325548CCD01}"/>
              </a:ext>
            </a:extLst>
          </p:cNvPr>
          <p:cNvSpPr txBox="1"/>
          <p:nvPr/>
        </p:nvSpPr>
        <p:spPr>
          <a:xfrm>
            <a:off x="609600" y="4686299"/>
            <a:ext cx="6096000" cy="1320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•  Critérios de aceitação atendidos
•  Revisão pelo outro integrante
•  Testes pertinentes e integração verificada
•  Documentação e evidências atualizadas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18BC3F4-EE3F-A7D9-32F6-E38A8CD7C382}"/>
              </a:ext>
            </a:extLst>
          </p:cNvPr>
          <p:cNvSpPr/>
          <p:nvPr/>
        </p:nvSpPr>
        <p:spPr>
          <a:xfrm>
            <a:off x="7353300" y="4178300"/>
            <a:ext cx="4229100" cy="18796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7FE1203-3441-6633-7CFF-ECC9C6F67813}"/>
              </a:ext>
            </a:extLst>
          </p:cNvPr>
          <p:cNvSpPr txBox="1"/>
          <p:nvPr/>
        </p:nvSpPr>
        <p:spPr>
          <a:xfrm>
            <a:off x="7581900" y="4381499"/>
            <a:ext cx="3746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4A1F24"/>
                </a:solidFill>
                <a:latin typeface="Ancizar Serif SemiBold" panose="020A0002070300000003" pitchFamily="18" charset="0"/>
              </a:rPr>
              <a:t>Registro separado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7CB18FD-C9FA-8E26-0134-5BE607C0EC22}"/>
              </a:ext>
            </a:extLst>
          </p:cNvPr>
          <p:cNvSpPr txBox="1"/>
          <p:nvPr/>
        </p:nvSpPr>
        <p:spPr>
          <a:xfrm>
            <a:off x="7581900" y="4864099"/>
            <a:ext cx="37465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Validação de negócio pelo PO.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C5DA005-30BC-BF5C-3AF6-0370FCD0637B}"/>
              </a:ext>
            </a:extLst>
          </p:cNvPr>
          <p:cNvCxnSpPr/>
          <p:nvPr/>
        </p:nvCxnSpPr>
        <p:spPr>
          <a:xfrm>
            <a:off x="7581900" y="5283200"/>
            <a:ext cx="3746500" cy="0"/>
          </a:xfrm>
          <a:prstGeom prst="line">
            <a:avLst/>
          </a:prstGeom>
          <a:ln w="15240">
            <a:solidFill>
              <a:srgbClr val="116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96F45D9-299C-05F8-10A5-533ED115FBE2}"/>
              </a:ext>
            </a:extLst>
          </p:cNvPr>
          <p:cNvSpPr txBox="1"/>
          <p:nvPr/>
        </p:nvSpPr>
        <p:spPr>
          <a:xfrm>
            <a:off x="7581900" y="5486399"/>
            <a:ext cx="3746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Conexão com A6: revisar antes de declarar concluído.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4356403-ADF5-CC05-5FEC-0540ABB0443E}"/>
              </a:ext>
            </a:extLst>
          </p:cNvPr>
          <p:cNvSpPr txBox="1"/>
          <p:nvPr/>
        </p:nvSpPr>
        <p:spPr>
          <a:xfrm>
            <a:off x="609600" y="6591300"/>
            <a:ext cx="10731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04 · Lucas  /  TECHFIX · AP2</a:t>
            </a:r>
          </a:p>
        </p:txBody>
      </p:sp>
    </p:spTree>
    <p:extLst>
      <p:ext uri="{BB962C8B-B14F-4D97-AF65-F5344CB8AC3E}">
        <p14:creationId xmlns:p14="http://schemas.microsoft.com/office/powerpoint/2010/main" val="3440749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E24F2A8-D733-B138-2F91-E3955ED153DB}"/>
              </a:ext>
            </a:extLst>
          </p:cNvPr>
          <p:cNvSpPr txBox="1"/>
          <p:nvPr/>
        </p:nvSpPr>
        <p:spPr>
          <a:xfrm>
            <a:off x="609600" y="3556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A8 · PLANO DE INCREMENTOS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107C5CB-5E6C-6CD7-02BB-F8629F6DCEA5}"/>
              </a:ext>
            </a:extLst>
          </p:cNvPr>
          <p:cNvSpPr txBox="1"/>
          <p:nvPr/>
        </p:nvSpPr>
        <p:spPr>
          <a:xfrm>
            <a:off x="609600" y="736599"/>
            <a:ext cx="109728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3200">
                <a:solidFill>
                  <a:srgbClr val="16354D"/>
                </a:solidFill>
                <a:latin typeface="Ancizar Serif SemiBold" panose="020A0002070300000003" pitchFamily="18" charset="0"/>
              </a:rPr>
              <a:t>Dois incrementos entregam valor ao atendimento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5CDF33A-C8DB-D242-FD1F-02E864BBEF90}"/>
              </a:ext>
            </a:extLst>
          </p:cNvPr>
          <p:cNvSpPr txBox="1"/>
          <p:nvPr/>
        </p:nvSpPr>
        <p:spPr>
          <a:xfrm>
            <a:off x="533400" y="1714499"/>
            <a:ext cx="54102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I1 · Receber e localizar atendimentos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E845BB5-5465-3877-2826-6AB4B947BECE}"/>
              </a:ext>
            </a:extLst>
          </p:cNvPr>
          <p:cNvSpPr txBox="1"/>
          <p:nvPr/>
        </p:nvSpPr>
        <p:spPr>
          <a:xfrm>
            <a:off x="6248400" y="1714499"/>
            <a:ext cx="54102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I2 · Acompanhar e concluir serviços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76316A-8E0B-A1AF-AD97-81BA76CC514E}"/>
              </a:ext>
            </a:extLst>
          </p:cNvPr>
          <p:cNvSpPr txBox="1"/>
          <p:nvPr/>
        </p:nvSpPr>
        <p:spPr>
          <a:xfrm>
            <a:off x="533400" y="2209799"/>
            <a:ext cx="539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nl-NL" sz="1050">
                <a:solidFill>
                  <a:srgbClr val="4A1F24"/>
                </a:solidFill>
                <a:latin typeface="Mozilla Text" pitchFamily="2" charset="0"/>
              </a:rPr>
              <a:t>1 P + 3 M + 1 G</a:t>
            </a:r>
            <a:endParaRPr lang="pt-BR" sz="1050">
              <a:solidFill>
                <a:srgbClr val="4A1F24"/>
              </a:solidFill>
              <a:latin typeface="Mozilla Text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E0D117-D735-59A9-CE83-6923BC07DC9F}"/>
              </a:ext>
            </a:extLst>
          </p:cNvPr>
          <p:cNvSpPr txBox="1"/>
          <p:nvPr/>
        </p:nvSpPr>
        <p:spPr>
          <a:xfrm>
            <a:off x="6248400" y="2209799"/>
            <a:ext cx="539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3 M + 1 G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897E9DE-65BE-D0C0-5005-2C77B8AA1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202332"/>
              </p:ext>
            </p:extLst>
          </p:nvPr>
        </p:nvGraphicFramePr>
        <p:xfrm>
          <a:off x="533400" y="2514600"/>
          <a:ext cx="54102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1111204451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12801703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1863874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ID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Entrega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Tam.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96757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A8R01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Acesso por perfil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G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35009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A8R02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Cadastro de cliente e equipamento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M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35756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A8R03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Abertura de OS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M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445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A8R04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Consulta exata pelo número da OS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P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57165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A8R05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Histórico inicial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M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653651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CB0525FD-A03B-E641-302C-452C31392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329493"/>
              </p:ext>
            </p:extLst>
          </p:nvPr>
        </p:nvGraphicFramePr>
        <p:xfrm>
          <a:off x="6248400" y="2514600"/>
          <a:ext cx="54102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350849621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14288629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9494428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ID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Entrega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Tam.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2188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A8R06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Atribuir técnico, iniciar e listar suas OS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M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57696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A8R07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Concluir OS sem regressão de estado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M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93147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A8R08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Pesquisar por cliente ou equipamento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M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2986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A8R09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Comprovar desempenho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G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244579"/>
                  </a:ext>
                </a:extLst>
              </a:tr>
            </a:tbl>
          </a:graphicData>
        </a:graphic>
      </p:graphicFrame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4973ECF-28C8-9814-015E-68E37C8B459F}"/>
              </a:ext>
            </a:extLst>
          </p:cNvPr>
          <p:cNvCxnSpPr/>
          <p:nvPr/>
        </p:nvCxnSpPr>
        <p:spPr>
          <a:xfrm>
            <a:off x="533400" y="5613400"/>
            <a:ext cx="11125200" cy="0"/>
          </a:xfrm>
          <a:prstGeom prst="line">
            <a:avLst/>
          </a:prstGeom>
          <a:ln w="15240">
            <a:solidFill>
              <a:srgbClr val="116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F159914-D9BC-0CE7-B753-641BB006927A}"/>
              </a:ext>
            </a:extLst>
          </p:cNvPr>
          <p:cNvSpPr txBox="1"/>
          <p:nvPr/>
        </p:nvSpPr>
        <p:spPr>
          <a:xfrm>
            <a:off x="533400" y="5791199"/>
            <a:ext cx="111252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200">
                <a:solidFill>
                  <a:srgbClr val="272525"/>
                </a:solidFill>
                <a:latin typeface="Mozilla Text" pitchFamily="2" charset="0"/>
              </a:rPr>
              <a:t>A8R01–R08 são Must. A8R09 é Should, mas seu critério deve ser atendido antes da implantação.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A70D55F-190E-FCFD-0154-DF31F4740B99}"/>
              </a:ext>
            </a:extLst>
          </p:cNvPr>
          <p:cNvSpPr txBox="1"/>
          <p:nvPr/>
        </p:nvSpPr>
        <p:spPr>
          <a:xfrm>
            <a:off x="533400" y="6222999"/>
            <a:ext cx="111252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O histórico de A8R05 continua no I2. Cada incremento pode ocupar várias Sprints.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5F48298-9CBE-69B0-04EE-CE34699E4D20}"/>
              </a:ext>
            </a:extLst>
          </p:cNvPr>
          <p:cNvSpPr txBox="1"/>
          <p:nvPr/>
        </p:nvSpPr>
        <p:spPr>
          <a:xfrm>
            <a:off x="609600" y="6591300"/>
            <a:ext cx="10731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05 · Lucas  /  TECHFIX · AP2</a:t>
            </a:r>
          </a:p>
        </p:txBody>
      </p:sp>
    </p:spTree>
    <p:extLst>
      <p:ext uri="{BB962C8B-B14F-4D97-AF65-F5344CB8AC3E}">
        <p14:creationId xmlns:p14="http://schemas.microsoft.com/office/powerpoint/2010/main" val="2011213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D7C3594-DB2A-B1C2-4DD8-5E0CE6D4911C}"/>
              </a:ext>
            </a:extLst>
          </p:cNvPr>
          <p:cNvSpPr txBox="1"/>
          <p:nvPr/>
        </p:nvSpPr>
        <p:spPr>
          <a:xfrm>
            <a:off x="609600" y="3556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A8 · ESTIMATIVAS PROPOSTAS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E1E83B9-2624-A84B-8031-C37D260B8376}"/>
              </a:ext>
            </a:extLst>
          </p:cNvPr>
          <p:cNvSpPr txBox="1"/>
          <p:nvPr/>
        </p:nvSpPr>
        <p:spPr>
          <a:xfrm>
            <a:off x="609600" y="736599"/>
            <a:ext cx="109728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3200">
                <a:solidFill>
                  <a:srgbClr val="16354D"/>
                </a:solidFill>
                <a:latin typeface="Ancizar Serif SemiBold" panose="020A0002070300000003" pitchFamily="18" charset="0"/>
              </a:rPr>
              <a:t>P, M e G são tamanhos relativos,
com consenso a registrar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779D38A-2318-732C-D984-4753D6F5B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772794"/>
              </p:ext>
            </p:extLst>
          </p:nvPr>
        </p:nvGraphicFramePr>
        <p:xfrm>
          <a:off x="609600" y="2413000"/>
          <a:ext cx="10972800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568528512"/>
                    </a:ext>
                  </a:extLst>
                </a:gridCol>
                <a:gridCol w="3111500">
                  <a:extLst>
                    <a:ext uri="{9D8B030D-6E8A-4147-A177-3AD203B41FA5}">
                      <a16:colId xmlns:a16="http://schemas.microsoft.com/office/drawing/2014/main" val="102835144"/>
                    </a:ext>
                  </a:extLst>
                </a:gridCol>
                <a:gridCol w="6718300">
                  <a:extLst>
                    <a:ext uri="{9D8B030D-6E8A-4147-A177-3AD203B41FA5}">
                      <a16:colId xmlns:a16="http://schemas.microsoft.com/office/drawing/2014/main" val="2210855249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Tamanho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Referência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O que entra na estimativa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35852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P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E7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A8R04 · consulta exata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Fluxo limitado, menor incerteza.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9638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M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E7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A8R02 · cadastro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Campos, validações e relacionamentos.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9183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G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E7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A8R01 e A8R09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Autorização e desempenho: incerteza e verificação transversal.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885110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2A3D26F5-B4DD-9865-A7A3-A4EE1708F44A}"/>
              </a:ext>
            </a:extLst>
          </p:cNvPr>
          <p:cNvSpPr txBox="1"/>
          <p:nvPr/>
        </p:nvSpPr>
        <p:spPr>
          <a:xfrm>
            <a:off x="609600" y="45973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Tamanho inclui implementação e verificação; sem conversão fixa em horas.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DB126F3-86A4-189A-678D-0A3188AF2E5E}"/>
              </a:ext>
            </a:extLst>
          </p:cNvPr>
          <p:cNvSpPr txBox="1"/>
          <p:nvPr/>
        </p:nvSpPr>
        <p:spPr>
          <a:xfrm>
            <a:off x="609600" y="5181599"/>
            <a:ext cx="109728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Para fechar o consenso da dupla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2431F41-53D1-5ACA-6708-9CEED6BCE1A8}"/>
              </a:ext>
            </a:extLst>
          </p:cNvPr>
          <p:cNvSpPr txBox="1"/>
          <p:nvPr/>
        </p:nvSpPr>
        <p:spPr>
          <a:xfrm>
            <a:off x="609600" y="5689599"/>
            <a:ext cx="2590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4A1F24"/>
                </a:solidFill>
                <a:latin typeface="IBM Plex Mono" panose="020B0509050203000203" pitchFamily="49" charset="0"/>
              </a:rPr>
              <a:t>01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7C8BCCDA-C48A-811D-C9C4-E01A31E64B62}"/>
              </a:ext>
            </a:extLst>
          </p:cNvPr>
          <p:cNvCxnSpPr/>
          <p:nvPr/>
        </p:nvCxnSpPr>
        <p:spPr>
          <a:xfrm>
            <a:off x="609600" y="5994400"/>
            <a:ext cx="2590800" cy="0"/>
          </a:xfrm>
          <a:prstGeom prst="line">
            <a:avLst/>
          </a:prstGeom>
          <a:ln w="1905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54B782-ED78-012C-9302-94FD239AC1ED}"/>
              </a:ext>
            </a:extLst>
          </p:cNvPr>
          <p:cNvSpPr txBox="1"/>
          <p:nvPr/>
        </p:nvSpPr>
        <p:spPr>
          <a:xfrm>
            <a:off x="609600" y="6108699"/>
            <a:ext cx="2667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300">
                <a:solidFill>
                  <a:srgbClr val="272525"/>
                </a:solidFill>
                <a:latin typeface="Mozilla Text" pitchFamily="2" charset="0"/>
              </a:rPr>
              <a:t>Estimativa individual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C9E8C67-7653-B817-F73C-FA7434907FA7}"/>
              </a:ext>
            </a:extLst>
          </p:cNvPr>
          <p:cNvSpPr txBox="1"/>
          <p:nvPr/>
        </p:nvSpPr>
        <p:spPr>
          <a:xfrm>
            <a:off x="3429000" y="5689599"/>
            <a:ext cx="2590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4A1F24"/>
                </a:solidFill>
                <a:latin typeface="IBM Plex Mono" panose="020B0509050203000203" pitchFamily="49" charset="0"/>
              </a:rPr>
              <a:t>02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DC693718-4A36-BFE9-7545-FD23ABD64ABA}"/>
              </a:ext>
            </a:extLst>
          </p:cNvPr>
          <p:cNvCxnSpPr/>
          <p:nvPr/>
        </p:nvCxnSpPr>
        <p:spPr>
          <a:xfrm>
            <a:off x="3429000" y="5994400"/>
            <a:ext cx="2590800" cy="0"/>
          </a:xfrm>
          <a:prstGeom prst="line">
            <a:avLst/>
          </a:prstGeom>
          <a:ln w="1905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A766F82-5046-9FB7-B7D2-C3350884551C}"/>
              </a:ext>
            </a:extLst>
          </p:cNvPr>
          <p:cNvSpPr txBox="1"/>
          <p:nvPr/>
        </p:nvSpPr>
        <p:spPr>
          <a:xfrm>
            <a:off x="3429000" y="6108699"/>
            <a:ext cx="2667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300">
                <a:solidFill>
                  <a:srgbClr val="272525"/>
                </a:solidFill>
                <a:latin typeface="Mozilla Text" pitchFamily="2" charset="0"/>
              </a:rPr>
              <a:t>Comparação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92061F3-6204-9995-D32A-5DBA72CA6DF2}"/>
              </a:ext>
            </a:extLst>
          </p:cNvPr>
          <p:cNvSpPr txBox="1"/>
          <p:nvPr/>
        </p:nvSpPr>
        <p:spPr>
          <a:xfrm>
            <a:off x="6248400" y="5689599"/>
            <a:ext cx="2590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4A1F24"/>
                </a:solidFill>
                <a:latin typeface="IBM Plex Mono" panose="020B0509050203000203" pitchFamily="49" charset="0"/>
              </a:rPr>
              <a:t>03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B6CE8A-7DB9-7173-5B05-4CE900F71D00}"/>
              </a:ext>
            </a:extLst>
          </p:cNvPr>
          <p:cNvCxnSpPr/>
          <p:nvPr/>
        </p:nvCxnSpPr>
        <p:spPr>
          <a:xfrm>
            <a:off x="6248400" y="5994400"/>
            <a:ext cx="2590800" cy="0"/>
          </a:xfrm>
          <a:prstGeom prst="line">
            <a:avLst/>
          </a:prstGeom>
          <a:ln w="1905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6715014-6C17-2E67-7334-1B3B53873C3D}"/>
              </a:ext>
            </a:extLst>
          </p:cNvPr>
          <p:cNvSpPr txBox="1"/>
          <p:nvPr/>
        </p:nvSpPr>
        <p:spPr>
          <a:xfrm>
            <a:off x="6248400" y="6108699"/>
            <a:ext cx="2667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300">
                <a:solidFill>
                  <a:srgbClr val="272525"/>
                </a:solidFill>
                <a:latin typeface="Mozilla Text" pitchFamily="2" charset="0"/>
              </a:rPr>
              <a:t>Discussão das diferenças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FD0EAE7-C84A-5656-7FA8-1C03A29F6122}"/>
              </a:ext>
            </a:extLst>
          </p:cNvPr>
          <p:cNvSpPr txBox="1"/>
          <p:nvPr/>
        </p:nvSpPr>
        <p:spPr>
          <a:xfrm>
            <a:off x="9067800" y="5689599"/>
            <a:ext cx="2590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4A1F24"/>
                </a:solidFill>
                <a:latin typeface="IBM Plex Mono" panose="020B0509050203000203" pitchFamily="49" charset="0"/>
              </a:rPr>
              <a:t>04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C2F9EE89-BF91-3E1F-74ED-DD50779A987F}"/>
              </a:ext>
            </a:extLst>
          </p:cNvPr>
          <p:cNvCxnSpPr/>
          <p:nvPr/>
        </p:nvCxnSpPr>
        <p:spPr>
          <a:xfrm>
            <a:off x="9067800" y="5994400"/>
            <a:ext cx="2590800" cy="0"/>
          </a:xfrm>
          <a:prstGeom prst="line">
            <a:avLst/>
          </a:prstGeom>
          <a:ln w="19050">
            <a:solidFill>
              <a:srgbClr val="4A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4872C07-2FDD-FCBA-0E13-53EAFC30E466}"/>
              </a:ext>
            </a:extLst>
          </p:cNvPr>
          <p:cNvSpPr txBox="1"/>
          <p:nvPr/>
        </p:nvSpPr>
        <p:spPr>
          <a:xfrm>
            <a:off x="9067800" y="6108699"/>
            <a:ext cx="2667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300">
                <a:solidFill>
                  <a:srgbClr val="272525"/>
                </a:solidFill>
                <a:latin typeface="Mozilla Text" pitchFamily="2" charset="0"/>
              </a:rPr>
              <a:t>Registro do acordo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50AC8EE-86CC-A2F9-2E7F-E7382794A296}"/>
              </a:ext>
            </a:extLst>
          </p:cNvPr>
          <p:cNvSpPr txBox="1"/>
          <p:nvPr/>
        </p:nvSpPr>
        <p:spPr>
          <a:xfrm>
            <a:off x="609600" y="6591300"/>
            <a:ext cx="10731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06 · Lucas  /  TECHFIX · AP2</a:t>
            </a:r>
          </a:p>
        </p:txBody>
      </p:sp>
    </p:spTree>
    <p:extLst>
      <p:ext uri="{BB962C8B-B14F-4D97-AF65-F5344CB8AC3E}">
        <p14:creationId xmlns:p14="http://schemas.microsoft.com/office/powerpoint/2010/main" val="213969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1AD77A2-180C-5C43-3495-C192604B26E5}"/>
              </a:ext>
            </a:extLst>
          </p:cNvPr>
          <p:cNvSpPr txBox="1"/>
          <p:nvPr/>
        </p:nvSpPr>
        <p:spPr>
          <a:xfrm>
            <a:off x="609600" y="3556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A8 · REGISTRO DE RISCOS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5130363-B9DA-184F-731E-6A769DE057E9}"/>
              </a:ext>
            </a:extLst>
          </p:cNvPr>
          <p:cNvSpPr txBox="1"/>
          <p:nvPr/>
        </p:nvSpPr>
        <p:spPr>
          <a:xfrm>
            <a:off x="609600" y="736599"/>
            <a:ext cx="109728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3200">
                <a:solidFill>
                  <a:srgbClr val="16354D"/>
                </a:solidFill>
                <a:latin typeface="Ancizar Serif SemiBold" panose="020A0002070300000003" pitchFamily="18" charset="0"/>
              </a:rPr>
              <a:t>Acesso indevido e escopo
têm as maiores pontuações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33033EC-1C84-E064-98E8-1CDEF3CB5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026326"/>
              </p:ext>
            </p:extLst>
          </p:nvPr>
        </p:nvGraphicFramePr>
        <p:xfrm>
          <a:off x="533400" y="2146300"/>
          <a:ext cx="111252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408087065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239598246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16195704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17108597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370399697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Risco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P × I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Nível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Responsável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Mitigação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33791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R1 · Ampliação indevida do escopo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3×3=9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Alto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E7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Arthur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Manter vínculo A5 → backlog; controlar inclusões.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13316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R2 · Acesso indevido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3×3=9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Alto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E7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Arthur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Autorizar no servidor e testar chamadas diretas à API.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64134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R3 · Perda ou inconsistência de histórico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2×3=6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Alto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E7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Lucas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Gravar OS e evento na mesma transação.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9073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R4 · Desempenho sem comprovação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2×2=4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Moderado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E7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Lucas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Medir com até 10.000 OS; registrar ambiente/cenário.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850813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194559AD-F761-131D-6041-E8BE32612741}"/>
              </a:ext>
            </a:extLst>
          </p:cNvPr>
          <p:cNvSpPr txBox="1"/>
          <p:nvPr/>
        </p:nvSpPr>
        <p:spPr>
          <a:xfrm>
            <a:off x="533400" y="5727699"/>
            <a:ext cx="11125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Login local no navegador não comprova proteção no servidor.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E4105CF-552E-88BF-4007-CB5F2BA632FA}"/>
              </a:ext>
            </a:extLst>
          </p:cNvPr>
          <p:cNvSpPr txBox="1"/>
          <p:nvPr/>
        </p:nvSpPr>
        <p:spPr>
          <a:xfrm>
            <a:off x="533400" y="6172199"/>
            <a:ext cx="1112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P/I: 1 baixa, 2 média, 3 alta. Produto: 1–2 baixo; 3–4 moderado; 6–9 alto. Responsáveis propostos.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542EB1-771B-B2D9-5ED9-57BE9517FACC}"/>
              </a:ext>
            </a:extLst>
          </p:cNvPr>
          <p:cNvSpPr txBox="1"/>
          <p:nvPr/>
        </p:nvSpPr>
        <p:spPr>
          <a:xfrm>
            <a:off x="609600" y="6591300"/>
            <a:ext cx="10731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07 · Lucas  /  TECHFIX · AP2</a:t>
            </a:r>
          </a:p>
        </p:txBody>
      </p:sp>
    </p:spTree>
    <p:extLst>
      <p:ext uri="{BB962C8B-B14F-4D97-AF65-F5344CB8AC3E}">
        <p14:creationId xmlns:p14="http://schemas.microsoft.com/office/powerpoint/2010/main" val="1730555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5B21D46-62BE-E65D-2B38-C1CB059ABB3E}"/>
              </a:ext>
            </a:extLst>
          </p:cNvPr>
          <p:cNvSpPr txBox="1"/>
          <p:nvPr/>
        </p:nvSpPr>
        <p:spPr>
          <a:xfrm>
            <a:off x="609600" y="3556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A9 · ABERTURA DE OS · A8R02 E A8R03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FAA972C-FF40-244D-DFD6-26169F453EF9}"/>
              </a:ext>
            </a:extLst>
          </p:cNvPr>
          <p:cNvSpPr txBox="1"/>
          <p:nvPr/>
        </p:nvSpPr>
        <p:spPr>
          <a:xfrm>
            <a:off x="609600" y="736599"/>
            <a:ext cx="109728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3200">
                <a:solidFill>
                  <a:srgbClr val="16354D"/>
                </a:solidFill>
                <a:latin typeface="Ancizar Serif SemiBold" panose="020A0002070300000003" pitchFamily="18" charset="0"/>
              </a:rPr>
              <a:t>O fluxograma mostra sequência,
decisões e exceções</a:t>
            </a:r>
          </a:p>
        </p:txBody>
      </p:sp>
      <p:sp>
        <p:nvSpPr>
          <p:cNvPr id="4" name="Losango 3">
            <a:extLst>
              <a:ext uri="{FF2B5EF4-FFF2-40B4-BE49-F238E27FC236}">
                <a16:creationId xmlns:a16="http://schemas.microsoft.com/office/drawing/2014/main" id="{AD0C7B48-BE69-038E-B752-C6B09A47F241}"/>
              </a:ext>
            </a:extLst>
          </p:cNvPr>
          <p:cNvSpPr/>
          <p:nvPr/>
        </p:nvSpPr>
        <p:spPr>
          <a:xfrm>
            <a:off x="609600" y="2082800"/>
            <a:ext cx="2438400" cy="1003300"/>
          </a:xfrm>
          <a:prstGeom prst="diamond">
            <a:avLst/>
          </a:prstGeom>
          <a:solidFill>
            <a:srgbClr val="E7F1F2"/>
          </a:solidFill>
          <a:ln w="13970">
            <a:solidFill>
              <a:srgbClr val="116B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1D9686B-7599-9B6A-1CF4-6194ADFB96E4}"/>
              </a:ext>
            </a:extLst>
          </p:cNvPr>
          <p:cNvSpPr txBox="1"/>
          <p:nvPr/>
        </p:nvSpPr>
        <p:spPr>
          <a:xfrm>
            <a:off x="1024128" y="2381249"/>
            <a:ext cx="1609344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</a:pPr>
            <a:r>
              <a:rPr lang="pt-BR" sz="1200">
                <a:solidFill>
                  <a:srgbClr val="272525"/>
                </a:solidFill>
                <a:latin typeface="Mozilla Text" pitchFamily="2" charset="0"/>
              </a:rPr>
              <a:t>Identidade e
permissão válidas?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04ED22-CAC0-1F92-C1E0-45AEED6BBD06}"/>
              </a:ext>
            </a:extLst>
          </p:cNvPr>
          <p:cNvSpPr/>
          <p:nvPr/>
        </p:nvSpPr>
        <p:spPr>
          <a:xfrm>
            <a:off x="3835400" y="2082800"/>
            <a:ext cx="3073400" cy="10033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C5C3335-6FC1-7F95-D192-08F96BBAE299}"/>
              </a:ext>
            </a:extLst>
          </p:cNvPr>
          <p:cNvSpPr txBox="1"/>
          <p:nvPr/>
        </p:nvSpPr>
        <p:spPr>
          <a:xfrm>
            <a:off x="3987800" y="2355849"/>
            <a:ext cx="27686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300">
                <a:solidFill>
                  <a:srgbClr val="272525"/>
                </a:solidFill>
                <a:latin typeface="Mozilla Text" pitchFamily="2" charset="0"/>
              </a:rPr>
              <a:t>Selecionar ou cadastrar
cliente e equipamento</a:t>
            </a:r>
          </a:p>
        </p:txBody>
      </p:sp>
      <p:sp>
        <p:nvSpPr>
          <p:cNvPr id="8" name="Losango 7">
            <a:extLst>
              <a:ext uri="{FF2B5EF4-FFF2-40B4-BE49-F238E27FC236}">
                <a16:creationId xmlns:a16="http://schemas.microsoft.com/office/drawing/2014/main" id="{441E7E7B-EC8A-A4BC-662A-55404BAD2023}"/>
              </a:ext>
            </a:extLst>
          </p:cNvPr>
          <p:cNvSpPr/>
          <p:nvPr/>
        </p:nvSpPr>
        <p:spPr>
          <a:xfrm>
            <a:off x="8026400" y="2082800"/>
            <a:ext cx="3035300" cy="1003300"/>
          </a:xfrm>
          <a:prstGeom prst="diamond">
            <a:avLst/>
          </a:prstGeom>
          <a:solidFill>
            <a:srgbClr val="E7F1F2"/>
          </a:solidFill>
          <a:ln w="13970">
            <a:solidFill>
              <a:srgbClr val="116B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CF724E8-6F6E-2828-E362-87F1156D357B}"/>
              </a:ext>
            </a:extLst>
          </p:cNvPr>
          <p:cNvSpPr txBox="1"/>
          <p:nvPr/>
        </p:nvSpPr>
        <p:spPr>
          <a:xfrm>
            <a:off x="8542401" y="2381249"/>
            <a:ext cx="2003298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</a:pPr>
            <a:r>
              <a:rPr lang="pt-BR" sz="1200">
                <a:solidFill>
                  <a:srgbClr val="272525"/>
                </a:solidFill>
                <a:latin typeface="Mozilla Text" pitchFamily="2" charset="0"/>
              </a:rPr>
              <a:t>Obrigatórios e vínculo
válidos?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0017FC0-6ED8-ADBA-F4F7-1CB679E1748F}"/>
              </a:ext>
            </a:extLst>
          </p:cNvPr>
          <p:cNvCxnSpPr/>
          <p:nvPr/>
        </p:nvCxnSpPr>
        <p:spPr>
          <a:xfrm>
            <a:off x="3048000" y="2578100"/>
            <a:ext cx="7874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E02696A-CBE3-FFA8-287C-4187FF8F23D2}"/>
              </a:ext>
            </a:extLst>
          </p:cNvPr>
          <p:cNvSpPr txBox="1"/>
          <p:nvPr/>
        </p:nvSpPr>
        <p:spPr>
          <a:xfrm>
            <a:off x="3200400" y="2324100"/>
            <a:ext cx="571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272525"/>
                </a:solidFill>
                <a:latin typeface="Mozilla Text" pitchFamily="2" charset="0"/>
              </a:rPr>
              <a:t>Sim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38A698D-735B-DECB-2C11-1AADF0BC6A32}"/>
              </a:ext>
            </a:extLst>
          </p:cNvPr>
          <p:cNvCxnSpPr/>
          <p:nvPr/>
        </p:nvCxnSpPr>
        <p:spPr>
          <a:xfrm>
            <a:off x="6908800" y="2578100"/>
            <a:ext cx="11176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535F654A-3B42-43DD-8F87-FDF7102168A3}"/>
              </a:ext>
            </a:extLst>
          </p:cNvPr>
          <p:cNvCxnSpPr/>
          <p:nvPr/>
        </p:nvCxnSpPr>
        <p:spPr>
          <a:xfrm>
            <a:off x="1828800" y="3086100"/>
            <a:ext cx="0" cy="52070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8694351-BF0C-BBD4-D1A6-0FF7F89857AA}"/>
              </a:ext>
            </a:extLst>
          </p:cNvPr>
          <p:cNvSpPr txBox="1"/>
          <p:nvPr/>
        </p:nvSpPr>
        <p:spPr>
          <a:xfrm>
            <a:off x="1993900" y="3213100"/>
            <a:ext cx="1016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272525"/>
                </a:solidFill>
                <a:latin typeface="Mozilla Text" pitchFamily="2" charset="0"/>
              </a:rPr>
              <a:t>Não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498103B-4328-6B73-F3A5-7037A7D4DD9E}"/>
              </a:ext>
            </a:extLst>
          </p:cNvPr>
          <p:cNvSpPr/>
          <p:nvPr/>
        </p:nvSpPr>
        <p:spPr>
          <a:xfrm>
            <a:off x="800100" y="3606800"/>
            <a:ext cx="2082800" cy="6858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EB5F936-BF20-D0BF-8C85-0BF206CE120C}"/>
              </a:ext>
            </a:extLst>
          </p:cNvPr>
          <p:cNvSpPr txBox="1"/>
          <p:nvPr/>
        </p:nvSpPr>
        <p:spPr>
          <a:xfrm>
            <a:off x="952500" y="3721099"/>
            <a:ext cx="1778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300">
                <a:solidFill>
                  <a:srgbClr val="272525"/>
                </a:solidFill>
                <a:latin typeface="Mozilla Text" pitchFamily="2" charset="0"/>
              </a:rPr>
              <a:t>Negar operação
Encerrar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D6B782B9-22BF-E200-2293-845491D3A723}"/>
              </a:ext>
            </a:extLst>
          </p:cNvPr>
          <p:cNvCxnSpPr/>
          <p:nvPr/>
        </p:nvCxnSpPr>
        <p:spPr>
          <a:xfrm>
            <a:off x="9550400" y="3086100"/>
            <a:ext cx="0" cy="52070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4910052-8148-E1D6-17D3-173473733D4C}"/>
              </a:ext>
            </a:extLst>
          </p:cNvPr>
          <p:cNvSpPr txBox="1"/>
          <p:nvPr/>
        </p:nvSpPr>
        <p:spPr>
          <a:xfrm>
            <a:off x="9715500" y="3213100"/>
            <a:ext cx="635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272525"/>
                </a:solidFill>
                <a:latin typeface="Mozilla Text" pitchFamily="2" charset="0"/>
              </a:rPr>
              <a:t>Não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41C529B-64D9-7241-4A03-36C728A730F8}"/>
              </a:ext>
            </a:extLst>
          </p:cNvPr>
          <p:cNvSpPr/>
          <p:nvPr/>
        </p:nvSpPr>
        <p:spPr>
          <a:xfrm>
            <a:off x="8026400" y="3606800"/>
            <a:ext cx="3035300" cy="6858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5AB4A94-1B11-2803-4BB4-2D706EC26158}"/>
              </a:ext>
            </a:extLst>
          </p:cNvPr>
          <p:cNvSpPr txBox="1"/>
          <p:nvPr/>
        </p:nvSpPr>
        <p:spPr>
          <a:xfrm>
            <a:off x="8178800" y="3721099"/>
            <a:ext cx="2730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300">
                <a:solidFill>
                  <a:srgbClr val="272525"/>
                </a:solidFill>
                <a:latin typeface="Mozilla Text" pitchFamily="2" charset="0"/>
              </a:rPr>
              <a:t>Indicar campos
e permitir correção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D84551C0-FA97-98D1-28FE-61669267E0C3}"/>
              </a:ext>
            </a:extLst>
          </p:cNvPr>
          <p:cNvCxnSpPr/>
          <p:nvPr/>
        </p:nvCxnSpPr>
        <p:spPr>
          <a:xfrm flipH="1">
            <a:off x="7454900" y="3949700"/>
            <a:ext cx="5715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B59A6D43-3A86-404E-0FFB-36472B0C8FFB}"/>
              </a:ext>
            </a:extLst>
          </p:cNvPr>
          <p:cNvCxnSpPr/>
          <p:nvPr/>
        </p:nvCxnSpPr>
        <p:spPr>
          <a:xfrm flipV="1">
            <a:off x="7454900" y="2819400"/>
            <a:ext cx="0" cy="113030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B0B38F39-2473-10A7-1626-36A70C6767C1}"/>
              </a:ext>
            </a:extLst>
          </p:cNvPr>
          <p:cNvCxnSpPr/>
          <p:nvPr/>
        </p:nvCxnSpPr>
        <p:spPr>
          <a:xfrm flipH="1">
            <a:off x="6908800" y="2819400"/>
            <a:ext cx="5461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F9479B4-160F-70D8-2D1F-CB07FC01A00F}"/>
              </a:ext>
            </a:extLst>
          </p:cNvPr>
          <p:cNvSpPr txBox="1"/>
          <p:nvPr/>
        </p:nvSpPr>
        <p:spPr>
          <a:xfrm>
            <a:off x="6997700" y="4089400"/>
            <a:ext cx="952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116B70"/>
                </a:solidFill>
                <a:latin typeface="Mozilla Text" pitchFamily="2" charset="0"/>
              </a:rPr>
              <a:t>Corrigir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30670963-FD0B-84C2-ED9B-D4F5DAE03B63}"/>
              </a:ext>
            </a:extLst>
          </p:cNvPr>
          <p:cNvCxnSpPr/>
          <p:nvPr/>
        </p:nvCxnSpPr>
        <p:spPr>
          <a:xfrm>
            <a:off x="11061700" y="2590800"/>
            <a:ext cx="5207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D94DC55-9EEE-54A1-6697-A50FAB367E71}"/>
              </a:ext>
            </a:extLst>
          </p:cNvPr>
          <p:cNvCxnSpPr/>
          <p:nvPr/>
        </p:nvCxnSpPr>
        <p:spPr>
          <a:xfrm>
            <a:off x="11582400" y="2590800"/>
            <a:ext cx="0" cy="227330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F45056C4-EDEA-FBC7-C5AC-AC8EBFD008F1}"/>
              </a:ext>
            </a:extLst>
          </p:cNvPr>
          <p:cNvCxnSpPr/>
          <p:nvPr/>
        </p:nvCxnSpPr>
        <p:spPr>
          <a:xfrm flipH="1">
            <a:off x="10477500" y="4864100"/>
            <a:ext cx="11049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9978B91-4701-468D-D78B-3E3FDC9A9612}"/>
              </a:ext>
            </a:extLst>
          </p:cNvPr>
          <p:cNvSpPr txBox="1"/>
          <p:nvPr/>
        </p:nvSpPr>
        <p:spPr>
          <a:xfrm>
            <a:off x="11226800" y="3276600"/>
            <a:ext cx="4826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272525"/>
                </a:solidFill>
                <a:latin typeface="Mozilla Text" pitchFamily="2" charset="0"/>
              </a:rPr>
              <a:t>Sim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8971B06E-8039-4E7D-F9DA-35E1454303E2}"/>
              </a:ext>
            </a:extLst>
          </p:cNvPr>
          <p:cNvSpPr/>
          <p:nvPr/>
        </p:nvSpPr>
        <p:spPr>
          <a:xfrm>
            <a:off x="5245100" y="4546600"/>
            <a:ext cx="5232400" cy="762000"/>
          </a:xfrm>
          <a:prstGeom prst="rect">
            <a:avLst/>
          </a:prstGeom>
          <a:solidFill>
            <a:srgbClr val="116B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1839981-93A5-D7F1-3B42-0542DD4FF016}"/>
              </a:ext>
            </a:extLst>
          </p:cNvPr>
          <p:cNvSpPr txBox="1"/>
          <p:nvPr/>
        </p:nvSpPr>
        <p:spPr>
          <a:xfrm>
            <a:off x="5461000" y="4698999"/>
            <a:ext cx="48006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FFFFFF"/>
                </a:solidFill>
                <a:latin typeface="Mozilla Text" pitchFamily="2" charset="0"/>
              </a:rPr>
              <a:t>Confirmar → gravar OS + evento inicial
na mesma transação</a:t>
            </a:r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69CAF030-D940-AA7F-7D6F-EC97C1E45FE6}"/>
              </a:ext>
            </a:extLst>
          </p:cNvPr>
          <p:cNvCxnSpPr/>
          <p:nvPr/>
        </p:nvCxnSpPr>
        <p:spPr>
          <a:xfrm>
            <a:off x="6451600" y="5308600"/>
            <a:ext cx="0" cy="30480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1CC12D1F-86A1-C37A-24F6-C28B4CAD6B21}"/>
              </a:ext>
            </a:extLst>
          </p:cNvPr>
          <p:cNvCxnSpPr/>
          <p:nvPr/>
        </p:nvCxnSpPr>
        <p:spPr>
          <a:xfrm>
            <a:off x="9448800" y="5308600"/>
            <a:ext cx="0" cy="30480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 32">
            <a:extLst>
              <a:ext uri="{FF2B5EF4-FFF2-40B4-BE49-F238E27FC236}">
                <a16:creationId xmlns:a16="http://schemas.microsoft.com/office/drawing/2014/main" id="{B7FEED87-4807-5813-F879-C3F6CCEE0BE0}"/>
              </a:ext>
            </a:extLst>
          </p:cNvPr>
          <p:cNvSpPr/>
          <p:nvPr/>
        </p:nvSpPr>
        <p:spPr>
          <a:xfrm>
            <a:off x="3632200" y="5613400"/>
            <a:ext cx="3606800" cy="7366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052476D-7DF1-F52A-564C-7DDE0F578C75}"/>
              </a:ext>
            </a:extLst>
          </p:cNvPr>
          <p:cNvSpPr txBox="1"/>
          <p:nvPr/>
        </p:nvSpPr>
        <p:spPr>
          <a:xfrm>
            <a:off x="3784600" y="5727699"/>
            <a:ext cx="3302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300">
                <a:solidFill>
                  <a:srgbClr val="272525"/>
                </a:solidFill>
                <a:latin typeface="Mozilla Text" pitchFamily="2" charset="0"/>
              </a:rPr>
              <a:t>Sucesso: nº único, data/hora
e estado ABERTA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CCBC0AAD-C148-CE0C-00C4-9610BFF9895A}"/>
              </a:ext>
            </a:extLst>
          </p:cNvPr>
          <p:cNvSpPr/>
          <p:nvPr/>
        </p:nvSpPr>
        <p:spPr>
          <a:xfrm>
            <a:off x="7658100" y="5613400"/>
            <a:ext cx="4000500" cy="7366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5FE21E3-EBD7-5DC5-56C1-D502696E6531}"/>
              </a:ext>
            </a:extLst>
          </p:cNvPr>
          <p:cNvSpPr txBox="1"/>
          <p:nvPr/>
        </p:nvSpPr>
        <p:spPr>
          <a:xfrm>
            <a:off x="7810500" y="5727699"/>
            <a:ext cx="36957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300">
                <a:solidFill>
                  <a:srgbClr val="272525"/>
                </a:solidFill>
                <a:latin typeface="Mozilla Text" pitchFamily="2" charset="0"/>
              </a:rPr>
              <a:t>Falha: preservar formulário;
nova tentativa sem duplicar OS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566382A-5FB6-B1BA-BAAF-24E3D2098851}"/>
              </a:ext>
            </a:extLst>
          </p:cNvPr>
          <p:cNvSpPr txBox="1"/>
          <p:nvPr/>
        </p:nvSpPr>
        <p:spPr>
          <a:xfrm>
            <a:off x="609600" y="5867399"/>
            <a:ext cx="27305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Leitura resumida do modelo final da A9.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27F9DEA-7725-ADE9-3D06-23CEAD13A0C3}"/>
              </a:ext>
            </a:extLst>
          </p:cNvPr>
          <p:cNvSpPr txBox="1"/>
          <p:nvPr/>
        </p:nvSpPr>
        <p:spPr>
          <a:xfrm>
            <a:off x="609600" y="6591300"/>
            <a:ext cx="10731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08 · Arthur  /  TECHFIX · AP2</a:t>
            </a:r>
          </a:p>
        </p:txBody>
      </p:sp>
    </p:spTree>
    <p:extLst>
      <p:ext uri="{BB962C8B-B14F-4D97-AF65-F5344CB8AC3E}">
        <p14:creationId xmlns:p14="http://schemas.microsoft.com/office/powerpoint/2010/main" val="3592547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DFB24E-AD87-E084-4221-E24D88C8D6B0}"/>
              </a:ext>
            </a:extLst>
          </p:cNvPr>
          <p:cNvSpPr txBox="1"/>
          <p:nvPr/>
        </p:nvSpPr>
        <p:spPr>
          <a:xfrm>
            <a:off x="609600" y="3556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A9 · MODELO DE ESPECIFICAÇÃO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C54F60-AB70-DA74-CD8B-359D628F0E06}"/>
              </a:ext>
            </a:extLst>
          </p:cNvPr>
          <p:cNvSpPr txBox="1"/>
          <p:nvPr/>
        </p:nvSpPr>
        <p:spPr>
          <a:xfrm>
            <a:off x="609600" y="736599"/>
            <a:ext cx="109728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3200">
                <a:solidFill>
                  <a:srgbClr val="16354D"/>
                </a:solidFill>
                <a:latin typeface="Ancizar Serif SemiBold" panose="020A0002070300000003" pitchFamily="18" charset="0"/>
              </a:rPr>
              <a:t>O wireframe define campos e mensagens
antes de codificar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49811DA-99EC-673E-F942-046675122E7D}"/>
              </a:ext>
            </a:extLst>
          </p:cNvPr>
          <p:cNvSpPr/>
          <p:nvPr/>
        </p:nvSpPr>
        <p:spPr>
          <a:xfrm>
            <a:off x="609600" y="1981200"/>
            <a:ext cx="5969000" cy="426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116B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123C55-23EB-E5B4-3D92-EBA07D4DF706}"/>
              </a:ext>
            </a:extLst>
          </p:cNvPr>
          <p:cNvSpPr txBox="1"/>
          <p:nvPr/>
        </p:nvSpPr>
        <p:spPr>
          <a:xfrm>
            <a:off x="901700" y="2247899"/>
            <a:ext cx="5270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6354D"/>
                </a:solidFill>
                <a:latin typeface="Ancizar Serif SemiBold" panose="020A0002070300000003" pitchFamily="18" charset="0"/>
              </a:rPr>
              <a:t>Nova ordem de serviço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7695393-AE37-DE70-A54E-2776F52FD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739190"/>
              </p:ext>
            </p:extLst>
          </p:nvPr>
        </p:nvGraphicFramePr>
        <p:xfrm>
          <a:off x="901700" y="2730500"/>
          <a:ext cx="5384800" cy="78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85323508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109265679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Cliente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Seleção de cliente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733118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Equipamento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Só os vinculados ao cliente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18746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25933B2C-44CA-59FB-9817-B19CB9EB87CA}"/>
              </a:ext>
            </a:extLst>
          </p:cNvPr>
          <p:cNvSpPr txBox="1"/>
          <p:nvPr/>
        </p:nvSpPr>
        <p:spPr>
          <a:xfrm>
            <a:off x="901700" y="3682999"/>
            <a:ext cx="52832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700">
                <a:solidFill>
                  <a:srgbClr val="272525"/>
                </a:solidFill>
                <a:latin typeface="Ancizar Serif SemiBold" panose="020A0002070300000003" pitchFamily="18" charset="0"/>
              </a:rPr>
              <a:t>Cadastro rápido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F4A569-205B-86F4-21AB-D9D101DE5341}"/>
              </a:ext>
            </a:extLst>
          </p:cNvPr>
          <p:cNvSpPr txBox="1"/>
          <p:nvPr/>
        </p:nvSpPr>
        <p:spPr>
          <a:xfrm>
            <a:off x="1028700" y="4165599"/>
            <a:ext cx="2540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Nome *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A929FE9-4D50-8B26-38A2-BDCFBF1AA41A}"/>
              </a:ext>
            </a:extLst>
          </p:cNvPr>
          <p:cNvSpPr txBox="1"/>
          <p:nvPr/>
        </p:nvSpPr>
        <p:spPr>
          <a:xfrm>
            <a:off x="3721100" y="4165599"/>
            <a:ext cx="25146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Telefone *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37D2C11-F027-4287-F1CE-D8E447E168D9}"/>
              </a:ext>
            </a:extLst>
          </p:cNvPr>
          <p:cNvCxnSpPr/>
          <p:nvPr/>
        </p:nvCxnSpPr>
        <p:spPr>
          <a:xfrm>
            <a:off x="901700" y="4495800"/>
            <a:ext cx="5384800" cy="0"/>
          </a:xfrm>
          <a:prstGeom prst="line">
            <a:avLst/>
          </a:prstGeom>
          <a:ln w="8890">
            <a:solidFill>
              <a:srgbClr val="DCE5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BD6B940-85D0-DF0E-9308-2CBF67CA18FD}"/>
              </a:ext>
            </a:extLst>
          </p:cNvPr>
          <p:cNvSpPr txBox="1"/>
          <p:nvPr/>
        </p:nvSpPr>
        <p:spPr>
          <a:xfrm>
            <a:off x="1028700" y="4648199"/>
            <a:ext cx="2540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Tipo *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8A77DB4-EB20-FA52-30D4-2385172F4BBE}"/>
              </a:ext>
            </a:extLst>
          </p:cNvPr>
          <p:cNvSpPr txBox="1"/>
          <p:nvPr/>
        </p:nvSpPr>
        <p:spPr>
          <a:xfrm>
            <a:off x="3721100" y="4648199"/>
            <a:ext cx="25146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Defeito *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AEE9072-636B-0289-6D15-5599D8AD38AF}"/>
              </a:ext>
            </a:extLst>
          </p:cNvPr>
          <p:cNvSpPr txBox="1"/>
          <p:nvPr/>
        </p:nvSpPr>
        <p:spPr>
          <a:xfrm>
            <a:off x="901700" y="5118099"/>
            <a:ext cx="53467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272525"/>
                </a:solidFill>
                <a:latin typeface="Mozilla Text" pitchFamily="2" charset="0"/>
              </a:rPr>
              <a:t>* Obrigatórios · Erros junto aos campos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8D13CC5-DA1C-BD7B-E667-C6359800423C}"/>
              </a:ext>
            </a:extLst>
          </p:cNvPr>
          <p:cNvSpPr/>
          <p:nvPr/>
        </p:nvSpPr>
        <p:spPr>
          <a:xfrm>
            <a:off x="901700" y="5549900"/>
            <a:ext cx="2514600" cy="495300"/>
          </a:xfrm>
          <a:prstGeom prst="rect">
            <a:avLst/>
          </a:prstGeom>
          <a:solidFill>
            <a:srgbClr val="F7FAFB"/>
          </a:solidFill>
          <a:ln w="10160">
            <a:solidFill>
              <a:srgbClr val="116B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8A0DF3F-1D53-1544-F6B1-1345AF9B856C}"/>
              </a:ext>
            </a:extLst>
          </p:cNvPr>
          <p:cNvSpPr txBox="1"/>
          <p:nvPr/>
        </p:nvSpPr>
        <p:spPr>
          <a:xfrm>
            <a:off x="1612900" y="5676899"/>
            <a:ext cx="1778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Cancelar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7DC6D50-4640-4A2F-AB24-C3B9746448BE}"/>
              </a:ext>
            </a:extLst>
          </p:cNvPr>
          <p:cNvSpPr/>
          <p:nvPr/>
        </p:nvSpPr>
        <p:spPr>
          <a:xfrm>
            <a:off x="3733800" y="5549900"/>
            <a:ext cx="2514600" cy="495300"/>
          </a:xfrm>
          <a:prstGeom prst="rect">
            <a:avLst/>
          </a:prstGeom>
          <a:solidFill>
            <a:srgbClr val="116B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F5302C6-46E4-CF4C-2E47-C30EA39C294F}"/>
              </a:ext>
            </a:extLst>
          </p:cNvPr>
          <p:cNvSpPr txBox="1"/>
          <p:nvPr/>
        </p:nvSpPr>
        <p:spPr>
          <a:xfrm>
            <a:off x="4419600" y="5676899"/>
            <a:ext cx="1778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FFFFFF"/>
                </a:solidFill>
                <a:latin typeface="Mozilla Text" pitchFamily="2" charset="0"/>
              </a:rPr>
              <a:t>Abrir 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C76BE6F-55A8-9E66-0D9A-5E5C8CE33641}"/>
              </a:ext>
            </a:extLst>
          </p:cNvPr>
          <p:cNvSpPr txBox="1"/>
          <p:nvPr/>
        </p:nvSpPr>
        <p:spPr>
          <a:xfrm>
            <a:off x="7023100" y="2247899"/>
            <a:ext cx="45593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Campos e estados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52D9AE8-7622-8973-9325-11F1C8D65C63}"/>
              </a:ext>
            </a:extLst>
          </p:cNvPr>
          <p:cNvSpPr txBox="1"/>
          <p:nvPr/>
        </p:nvSpPr>
        <p:spPr>
          <a:xfrm>
            <a:off x="7023100" y="2743199"/>
            <a:ext cx="4559300" cy="1333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•  Número, data/hora e estado gerados pelo sistema
•  Falha de gravação mantém os dados
•  Evitar envios duplicados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9B9DFFAD-A2D2-255F-C1BD-823C753942A4}"/>
              </a:ext>
            </a:extLst>
          </p:cNvPr>
          <p:cNvCxnSpPr/>
          <p:nvPr/>
        </p:nvCxnSpPr>
        <p:spPr>
          <a:xfrm>
            <a:off x="7023100" y="4305300"/>
            <a:ext cx="4559300" cy="0"/>
          </a:xfrm>
          <a:prstGeom prst="line">
            <a:avLst/>
          </a:prstGeom>
          <a:ln w="15240">
            <a:solidFill>
              <a:srgbClr val="116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3E8BF28-3BE7-1D38-4CD6-E2FEE375BB50}"/>
              </a:ext>
            </a:extLst>
          </p:cNvPr>
          <p:cNvSpPr txBox="1"/>
          <p:nvPr/>
        </p:nvSpPr>
        <p:spPr>
          <a:xfrm>
            <a:off x="7023100" y="4559299"/>
            <a:ext cx="45593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4A1F24"/>
                </a:solidFill>
                <a:latin typeface="Ancizar Serif SemiBold" panose="020A0002070300000003" pitchFamily="18" charset="0"/>
              </a:rPr>
              <a:t>Sucesso ou falha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841CD0D-8D2C-8F06-2FF7-DA188FE5BE56}"/>
              </a:ext>
            </a:extLst>
          </p:cNvPr>
          <p:cNvSpPr txBox="1"/>
          <p:nvPr/>
        </p:nvSpPr>
        <p:spPr>
          <a:xfrm>
            <a:off x="7023100" y="5105399"/>
            <a:ext cx="45593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Sucesso apresenta protocolo e ABERTA.
Os estados de sucesso e falha são alternativos.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F1D9180-E6C1-A4E9-E2C8-E12F401A5D91}"/>
              </a:ext>
            </a:extLst>
          </p:cNvPr>
          <p:cNvSpPr txBox="1"/>
          <p:nvPr/>
        </p:nvSpPr>
        <p:spPr>
          <a:xfrm>
            <a:off x="609600" y="6591300"/>
            <a:ext cx="10731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09 · Arthur  /  TECHFIX · AP2</a:t>
            </a:r>
          </a:p>
        </p:txBody>
      </p:sp>
    </p:spTree>
    <p:extLst>
      <p:ext uri="{BB962C8B-B14F-4D97-AF65-F5344CB8AC3E}">
        <p14:creationId xmlns:p14="http://schemas.microsoft.com/office/powerpoint/2010/main" val="1491576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CE25303-4B72-7A92-AEEC-122CF7655817}"/>
              </a:ext>
            </a:extLst>
          </p:cNvPr>
          <p:cNvSpPr txBox="1"/>
          <p:nvPr/>
        </p:nvSpPr>
        <p:spPr>
          <a:xfrm>
            <a:off x="609600" y="3556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A10 · ARQUITETURA PROPOSTA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704AF5-65AA-3AAC-BA14-80CDD0991788}"/>
              </a:ext>
            </a:extLst>
          </p:cNvPr>
          <p:cNvSpPr txBox="1"/>
          <p:nvPr/>
        </p:nvSpPr>
        <p:spPr>
          <a:xfrm>
            <a:off x="609600" y="736599"/>
            <a:ext cx="109728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3200">
                <a:solidFill>
                  <a:srgbClr val="16354D"/>
                </a:solidFill>
                <a:latin typeface="Ancizar Serif SemiBold" panose="020A0002070300000003" pitchFamily="18" charset="0"/>
              </a:rPr>
              <a:t>Quatro componentes, com a interface
sem acesso direto ao banco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BE68C87-84A9-BC9E-785D-AC96B6BA3BAD}"/>
              </a:ext>
            </a:extLst>
          </p:cNvPr>
          <p:cNvSpPr/>
          <p:nvPr/>
        </p:nvSpPr>
        <p:spPr>
          <a:xfrm>
            <a:off x="609600" y="2679700"/>
            <a:ext cx="2565400" cy="15875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30A04E-5966-5EBC-C841-DB3262333F09}"/>
              </a:ext>
            </a:extLst>
          </p:cNvPr>
          <p:cNvSpPr txBox="1"/>
          <p:nvPr/>
        </p:nvSpPr>
        <p:spPr>
          <a:xfrm>
            <a:off x="838200" y="2908299"/>
            <a:ext cx="2133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4A1F24"/>
                </a:solidFill>
                <a:latin typeface="Ancizar Serif SemiBold" panose="020A0002070300000003" pitchFamily="18" charset="0"/>
              </a:rPr>
              <a:t>C1 · Interface web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CBB8D1C-0BB7-9571-C809-EC3CA82D694E}"/>
              </a:ext>
            </a:extLst>
          </p:cNvPr>
          <p:cNvSpPr txBox="1"/>
          <p:nvPr/>
        </p:nvSpPr>
        <p:spPr>
          <a:xfrm>
            <a:off x="838200" y="3454399"/>
            <a:ext cx="21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Interação, formulários, consulta e feedback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94A9650-6F3B-8167-ADA1-902A91607E3B}"/>
              </a:ext>
            </a:extLst>
          </p:cNvPr>
          <p:cNvSpPr/>
          <p:nvPr/>
        </p:nvSpPr>
        <p:spPr>
          <a:xfrm>
            <a:off x="4216400" y="2679700"/>
            <a:ext cx="3022600" cy="18923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8C31D77-BEF9-3C13-CE74-78F808D00EB3}"/>
              </a:ext>
            </a:extLst>
          </p:cNvPr>
          <p:cNvSpPr txBox="1"/>
          <p:nvPr/>
        </p:nvSpPr>
        <p:spPr>
          <a:xfrm>
            <a:off x="4445000" y="2908299"/>
            <a:ext cx="2552700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4A1F24"/>
                </a:solidFill>
                <a:latin typeface="Ancizar Serif SemiBold" panose="020A0002070300000003" pitchFamily="18" charset="0"/>
              </a:rPr>
              <a:t>C2 · API e regras de
negócio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DDCD2EC-DB9D-F677-3ACF-FD7E275D8FFE}"/>
              </a:ext>
            </a:extLst>
          </p:cNvPr>
          <p:cNvSpPr txBox="1"/>
          <p:nvPr/>
        </p:nvSpPr>
        <p:spPr>
          <a:xfrm>
            <a:off x="4445000" y="3695699"/>
            <a:ext cx="25527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Valida, cria OS, controla técnico, estados e histórico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60FEC4C-FA46-4AB9-2988-973DD70D9702}"/>
              </a:ext>
            </a:extLst>
          </p:cNvPr>
          <p:cNvSpPr/>
          <p:nvPr/>
        </p:nvSpPr>
        <p:spPr>
          <a:xfrm>
            <a:off x="8572500" y="1993900"/>
            <a:ext cx="3009900" cy="15240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F86119B-355E-E45E-A714-024FA273383D}"/>
              </a:ext>
            </a:extLst>
          </p:cNvPr>
          <p:cNvSpPr txBox="1"/>
          <p:nvPr/>
        </p:nvSpPr>
        <p:spPr>
          <a:xfrm>
            <a:off x="8801100" y="2197099"/>
            <a:ext cx="25527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4A1F24"/>
                </a:solidFill>
                <a:latin typeface="Ancizar Serif SemiBold" panose="020A0002070300000003" pitchFamily="18" charset="0"/>
              </a:rPr>
              <a:t>C3 · Autenticação e
autorização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0334EE2-AB49-2082-60E7-3CE39004E071}"/>
              </a:ext>
            </a:extLst>
          </p:cNvPr>
          <p:cNvSpPr txBox="1"/>
          <p:nvPr/>
        </p:nvSpPr>
        <p:spPr>
          <a:xfrm>
            <a:off x="8801100" y="2971799"/>
            <a:ext cx="25527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Identidade e permissão no servidor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DC98938-F436-0104-AE30-6A9685165499}"/>
              </a:ext>
            </a:extLst>
          </p:cNvPr>
          <p:cNvSpPr/>
          <p:nvPr/>
        </p:nvSpPr>
        <p:spPr>
          <a:xfrm>
            <a:off x="8572500" y="4254500"/>
            <a:ext cx="3009900" cy="17399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8EC86F0-DC8B-7665-B9A3-895C2EDAD904}"/>
              </a:ext>
            </a:extLst>
          </p:cNvPr>
          <p:cNvSpPr txBox="1"/>
          <p:nvPr/>
        </p:nvSpPr>
        <p:spPr>
          <a:xfrm>
            <a:off x="8801100" y="4444999"/>
            <a:ext cx="25527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4A1F24"/>
                </a:solidFill>
                <a:latin typeface="Ancizar Serif SemiBold" panose="020A0002070300000003" pitchFamily="18" charset="0"/>
              </a:rPr>
              <a:t>C4 · Persistência e
banco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BAAF7E3-BC56-5033-61F8-71D3BD9F0511}"/>
              </a:ext>
            </a:extLst>
          </p:cNvPr>
          <p:cNvSpPr txBox="1"/>
          <p:nvPr/>
        </p:nvSpPr>
        <p:spPr>
          <a:xfrm>
            <a:off x="8801100" y="5206999"/>
            <a:ext cx="25527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Clientes, equipamentos, OS, técnicos, perfis e histórico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E2E9F8A-D97A-0D90-9039-A611F58BA260}"/>
              </a:ext>
            </a:extLst>
          </p:cNvPr>
          <p:cNvCxnSpPr/>
          <p:nvPr/>
        </p:nvCxnSpPr>
        <p:spPr>
          <a:xfrm>
            <a:off x="3175000" y="3213100"/>
            <a:ext cx="10414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8800F79-5C46-2468-6863-97439D67BB96}"/>
              </a:ext>
            </a:extLst>
          </p:cNvPr>
          <p:cNvCxnSpPr/>
          <p:nvPr/>
        </p:nvCxnSpPr>
        <p:spPr>
          <a:xfrm>
            <a:off x="7239000" y="2768600"/>
            <a:ext cx="13335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D34A316-E6B4-C7DD-1FFF-8C030727613D}"/>
              </a:ext>
            </a:extLst>
          </p:cNvPr>
          <p:cNvCxnSpPr/>
          <p:nvPr/>
        </p:nvCxnSpPr>
        <p:spPr>
          <a:xfrm>
            <a:off x="7239000" y="4559300"/>
            <a:ext cx="13335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68A949E4-BBDD-8805-F4C2-1F79F7F75587}"/>
              </a:ext>
            </a:extLst>
          </p:cNvPr>
          <p:cNvCxnSpPr/>
          <p:nvPr/>
        </p:nvCxnSpPr>
        <p:spPr>
          <a:xfrm>
            <a:off x="10071100" y="3517900"/>
            <a:ext cx="0" cy="73660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4E43006-9970-07D8-98A3-1E6C1469DECC}"/>
              </a:ext>
            </a:extLst>
          </p:cNvPr>
          <p:cNvSpPr txBox="1"/>
          <p:nvPr/>
        </p:nvSpPr>
        <p:spPr>
          <a:xfrm>
            <a:off x="3187700" y="22479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272525"/>
                </a:solidFill>
                <a:latin typeface="Mozilla Text" pitchFamily="2" charset="0"/>
              </a:rPr>
              <a:t>HTTP/JSON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D6F2973-2B3A-CDD9-7D8E-4667D063FD03}"/>
              </a:ext>
            </a:extLst>
          </p:cNvPr>
          <p:cNvSpPr txBox="1"/>
          <p:nvPr/>
        </p:nvSpPr>
        <p:spPr>
          <a:xfrm>
            <a:off x="3276600" y="2438399"/>
            <a:ext cx="889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HTTPS na
implantação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7ECD618-2E80-52F3-76B2-D30681CDA0C4}"/>
              </a:ext>
            </a:extLst>
          </p:cNvPr>
          <p:cNvSpPr txBox="1"/>
          <p:nvPr/>
        </p:nvSpPr>
        <p:spPr>
          <a:xfrm>
            <a:off x="7416800" y="2095499"/>
            <a:ext cx="10541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Verificar
identidade e
permissão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542E870-68DA-A0F1-1F54-5DC4816E7E74}"/>
              </a:ext>
            </a:extLst>
          </p:cNvPr>
          <p:cNvSpPr txBox="1"/>
          <p:nvPr/>
        </p:nvSpPr>
        <p:spPr>
          <a:xfrm>
            <a:off x="7378700" y="4749799"/>
            <a:ext cx="1092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Consultar e
gravar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5B0E9F9-FEF9-CFA5-7374-37E30D132EA6}"/>
              </a:ext>
            </a:extLst>
          </p:cNvPr>
          <p:cNvSpPr txBox="1"/>
          <p:nvPr/>
        </p:nvSpPr>
        <p:spPr>
          <a:xfrm>
            <a:off x="10287000" y="3644899"/>
            <a:ext cx="13335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Consultar
usuários e perfis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47AA369-13E4-C281-C08A-BC84BB30CEA3}"/>
              </a:ext>
            </a:extLst>
          </p:cNvPr>
          <p:cNvSpPr txBox="1"/>
          <p:nvPr/>
        </p:nvSpPr>
        <p:spPr>
          <a:xfrm>
            <a:off x="609600" y="5118099"/>
            <a:ext cx="71882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116B70"/>
                </a:solidFill>
                <a:latin typeface="Mozilla Text" pitchFamily="2" charset="0"/>
              </a:rPr>
              <a:t>OS + evento de histórico: mesma transação.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055A365-EF2A-5A6F-14CA-7143B7C5BC45}"/>
              </a:ext>
            </a:extLst>
          </p:cNvPr>
          <p:cNvSpPr txBox="1"/>
          <p:nvPr/>
        </p:nvSpPr>
        <p:spPr>
          <a:xfrm>
            <a:off x="609600" y="5638799"/>
            <a:ext cx="70866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Respostas retornam ao solicitante.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1D6F0FD-4FDF-C8ED-138C-242FE56A69C4}"/>
              </a:ext>
            </a:extLst>
          </p:cNvPr>
          <p:cNvSpPr txBox="1"/>
          <p:nvPr/>
        </p:nvSpPr>
        <p:spPr>
          <a:xfrm>
            <a:off x="609600" y="6070599"/>
            <a:ext cx="10972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Arquitetura proposta; não exige microsserviços.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7A156FC-0159-B345-6D50-EC840B217C06}"/>
              </a:ext>
            </a:extLst>
          </p:cNvPr>
          <p:cNvSpPr txBox="1"/>
          <p:nvPr/>
        </p:nvSpPr>
        <p:spPr>
          <a:xfrm>
            <a:off x="609600" y="6591300"/>
            <a:ext cx="10731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10 · Lucas  /  TECHFIX · AP2</a:t>
            </a:r>
          </a:p>
        </p:txBody>
      </p:sp>
    </p:spTree>
    <p:extLst>
      <p:ext uri="{BB962C8B-B14F-4D97-AF65-F5344CB8AC3E}">
        <p14:creationId xmlns:p14="http://schemas.microsoft.com/office/powerpoint/2010/main" val="715671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44C770C-3019-082E-14D0-D49861A3C45D}"/>
              </a:ext>
            </a:extLst>
          </p:cNvPr>
          <p:cNvSpPr txBox="1"/>
          <p:nvPr/>
        </p:nvSpPr>
        <p:spPr>
          <a:xfrm>
            <a:off x="609600" y="3556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A10 · RASTREABILIDADE DEMONSTRADA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C935C8-058F-B30F-5AAB-7E6F00CFB26D}"/>
              </a:ext>
            </a:extLst>
          </p:cNvPr>
          <p:cNvSpPr txBox="1"/>
          <p:nvPr/>
        </p:nvSpPr>
        <p:spPr>
          <a:xfrm>
            <a:off x="609600" y="736599"/>
            <a:ext cx="109728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3200">
                <a:solidFill>
                  <a:srgbClr val="16354D"/>
                </a:solidFill>
                <a:latin typeface="Ancizar Serif SemiBold" panose="020A0002070300000003" pitchFamily="18" charset="0"/>
              </a:rPr>
              <a:t>Da entrevista simulada à abertura
e evolução da ordem de serviço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0205FE-24D0-C949-E32D-754D1A7E8425}"/>
              </a:ext>
            </a:extLst>
          </p:cNvPr>
          <p:cNvSpPr txBox="1"/>
          <p:nvPr/>
        </p:nvSpPr>
        <p:spPr>
          <a:xfrm>
            <a:off x="609600" y="2158999"/>
            <a:ext cx="1968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A3 · Origem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1DF4344-D7C1-E65C-BDC1-2CB43EE7C0D1}"/>
              </a:ext>
            </a:extLst>
          </p:cNvPr>
          <p:cNvCxnSpPr/>
          <p:nvPr/>
        </p:nvCxnSpPr>
        <p:spPr>
          <a:xfrm>
            <a:off x="2755900" y="2336800"/>
            <a:ext cx="3302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E36B8EF1-78A7-97FB-84DB-C9F08A1D1250}"/>
              </a:ext>
            </a:extLst>
          </p:cNvPr>
          <p:cNvSpPr txBox="1"/>
          <p:nvPr/>
        </p:nvSpPr>
        <p:spPr>
          <a:xfrm>
            <a:off x="3302000" y="2184399"/>
            <a:ext cx="8255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600">
                <a:solidFill>
                  <a:srgbClr val="272525"/>
                </a:solidFill>
                <a:latin typeface="Mozilla Text" pitchFamily="2" charset="0"/>
              </a:rPr>
              <a:t>p. 2, §3 e §4.1: RF03 (OS), RF04 (estados), RF05 (técnico).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A8623DF-EC19-E9A3-8E07-B09C88BDBD5F}"/>
              </a:ext>
            </a:extLst>
          </p:cNvPr>
          <p:cNvCxnSpPr/>
          <p:nvPr/>
        </p:nvCxnSpPr>
        <p:spPr>
          <a:xfrm>
            <a:off x="609600" y="2781300"/>
            <a:ext cx="10972800" cy="0"/>
          </a:xfrm>
          <a:prstGeom prst="line">
            <a:avLst/>
          </a:prstGeom>
          <a:ln w="7620">
            <a:solidFill>
              <a:srgbClr val="DCE5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A48447B3-502A-57B9-3FC0-DDB11935CCCC}"/>
              </a:ext>
            </a:extLst>
          </p:cNvPr>
          <p:cNvSpPr txBox="1"/>
          <p:nvPr/>
        </p:nvSpPr>
        <p:spPr>
          <a:xfrm>
            <a:off x="609600" y="2933699"/>
            <a:ext cx="1968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A4 / A5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A6205A2-0F3B-80AE-B209-8C4E03F558D5}"/>
              </a:ext>
            </a:extLst>
          </p:cNvPr>
          <p:cNvCxnSpPr/>
          <p:nvPr/>
        </p:nvCxnSpPr>
        <p:spPr>
          <a:xfrm>
            <a:off x="2755900" y="3111500"/>
            <a:ext cx="3302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137DD7A-F4B2-DAF6-E047-608BAB7E6A27}"/>
              </a:ext>
            </a:extLst>
          </p:cNvPr>
          <p:cNvSpPr txBox="1"/>
          <p:nvPr/>
        </p:nvSpPr>
        <p:spPr>
          <a:xfrm>
            <a:off x="3302000" y="2959099"/>
            <a:ext cx="8255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600">
                <a:solidFill>
                  <a:srgbClr val="272525"/>
                </a:solidFill>
                <a:latin typeface="Mozilla Text" pitchFamily="2" charset="0"/>
              </a:rPr>
              <a:t>RE2 → RF2 + RN1 e HU1/HU2; critérios refinados na A5.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238882B-FE3C-A181-C8EF-0728DE78AB34}"/>
              </a:ext>
            </a:extLst>
          </p:cNvPr>
          <p:cNvCxnSpPr/>
          <p:nvPr/>
        </p:nvCxnSpPr>
        <p:spPr>
          <a:xfrm>
            <a:off x="609600" y="3556000"/>
            <a:ext cx="10972800" cy="0"/>
          </a:xfrm>
          <a:prstGeom prst="line">
            <a:avLst/>
          </a:prstGeom>
          <a:ln w="7620">
            <a:solidFill>
              <a:srgbClr val="DCE5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5821B46-0601-CF09-5F57-8E807DB22F60}"/>
              </a:ext>
            </a:extLst>
          </p:cNvPr>
          <p:cNvSpPr txBox="1"/>
          <p:nvPr/>
        </p:nvSpPr>
        <p:spPr>
          <a:xfrm>
            <a:off x="609600" y="3708399"/>
            <a:ext cx="1968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A8 · Trabalho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C5BF3DE-F68E-139F-A8D5-69EAE0CD9916}"/>
              </a:ext>
            </a:extLst>
          </p:cNvPr>
          <p:cNvCxnSpPr/>
          <p:nvPr/>
        </p:nvCxnSpPr>
        <p:spPr>
          <a:xfrm>
            <a:off x="2755900" y="3886200"/>
            <a:ext cx="3302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BC62FE3-D779-6C84-EE5C-05BF44297A5E}"/>
              </a:ext>
            </a:extLst>
          </p:cNvPr>
          <p:cNvSpPr txBox="1"/>
          <p:nvPr/>
        </p:nvSpPr>
        <p:spPr>
          <a:xfrm>
            <a:off x="3302000" y="3733799"/>
            <a:ext cx="8255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600">
                <a:solidFill>
                  <a:srgbClr val="272525"/>
                </a:solidFill>
                <a:latin typeface="Mozilla Text" pitchFamily="2" charset="0"/>
              </a:rPr>
              <a:t>A8R03 abre no I1; A8R06/R07 atribuem, iniciam e concluem no I2.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7489AE44-6B39-3FC2-AF2D-74BA5FCDC3DA}"/>
              </a:ext>
            </a:extLst>
          </p:cNvPr>
          <p:cNvCxnSpPr/>
          <p:nvPr/>
        </p:nvCxnSpPr>
        <p:spPr>
          <a:xfrm>
            <a:off x="609600" y="4330700"/>
            <a:ext cx="10972800" cy="0"/>
          </a:xfrm>
          <a:prstGeom prst="line">
            <a:avLst/>
          </a:prstGeom>
          <a:ln w="7620">
            <a:solidFill>
              <a:srgbClr val="DCE5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5AA48B9-6A7E-E0D4-7F05-0D307AA2BFDA}"/>
              </a:ext>
            </a:extLst>
          </p:cNvPr>
          <p:cNvSpPr txBox="1"/>
          <p:nvPr/>
        </p:nvSpPr>
        <p:spPr>
          <a:xfrm>
            <a:off x="609600" y="4483099"/>
            <a:ext cx="1968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A9 · Modelos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CF27DEDB-4999-C248-D162-0BDD8A1C251F}"/>
              </a:ext>
            </a:extLst>
          </p:cNvPr>
          <p:cNvCxnSpPr/>
          <p:nvPr/>
        </p:nvCxnSpPr>
        <p:spPr>
          <a:xfrm>
            <a:off x="2755900" y="4660900"/>
            <a:ext cx="3302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BF72EBB-1905-C829-8AE2-86332C9495AB}"/>
              </a:ext>
            </a:extLst>
          </p:cNvPr>
          <p:cNvSpPr txBox="1"/>
          <p:nvPr/>
        </p:nvSpPr>
        <p:spPr>
          <a:xfrm>
            <a:off x="3302000" y="4508499"/>
            <a:ext cx="8255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600">
                <a:solidFill>
                  <a:srgbClr val="272525"/>
                </a:solidFill>
                <a:latin typeface="Mozilla Text" pitchFamily="2" charset="0"/>
              </a:rPr>
              <a:t>§2.2 fluxograma + §2.3 wireframe detalham cadastro e abertura.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FE5551E5-0686-AB75-9391-3048C96841A3}"/>
              </a:ext>
            </a:extLst>
          </p:cNvPr>
          <p:cNvCxnSpPr/>
          <p:nvPr/>
        </p:nvCxnSpPr>
        <p:spPr>
          <a:xfrm>
            <a:off x="609600" y="5105400"/>
            <a:ext cx="10972800" cy="0"/>
          </a:xfrm>
          <a:prstGeom prst="line">
            <a:avLst/>
          </a:prstGeom>
          <a:ln w="7620">
            <a:solidFill>
              <a:srgbClr val="DCE5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B1F138A-B0CB-9760-05AE-9DB42243AAE5}"/>
              </a:ext>
            </a:extLst>
          </p:cNvPr>
          <p:cNvSpPr txBox="1"/>
          <p:nvPr/>
        </p:nvSpPr>
        <p:spPr>
          <a:xfrm>
            <a:off x="609600" y="5257799"/>
            <a:ext cx="1968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A10 · Destino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AE901B11-F300-A8F6-5171-5E9F12DF00FD}"/>
              </a:ext>
            </a:extLst>
          </p:cNvPr>
          <p:cNvCxnSpPr/>
          <p:nvPr/>
        </p:nvCxnSpPr>
        <p:spPr>
          <a:xfrm>
            <a:off x="2755900" y="5435600"/>
            <a:ext cx="330200" cy="0"/>
          </a:xfrm>
          <a:prstGeom prst="line">
            <a:avLst/>
          </a:prstGeom>
          <a:ln w="25400">
            <a:solidFill>
              <a:srgbClr val="116B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53E7193-F1E8-E0A4-3BBF-49DABC3FD259}"/>
              </a:ext>
            </a:extLst>
          </p:cNvPr>
          <p:cNvSpPr txBox="1"/>
          <p:nvPr/>
        </p:nvSpPr>
        <p:spPr>
          <a:xfrm>
            <a:off x="3302000" y="5283199"/>
            <a:ext cx="8255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600">
                <a:solidFill>
                  <a:srgbClr val="272525"/>
                </a:solidFill>
                <a:latin typeface="Mozilla Text" pitchFamily="2" charset="0"/>
              </a:rPr>
              <a:t>C1 interage; C2 aplica regras; C3 autoriza; C4 grava OS e evento.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3DB6E11-2444-847B-D7BB-D85F5B573F29}"/>
              </a:ext>
            </a:extLst>
          </p:cNvPr>
          <p:cNvSpPr txBox="1"/>
          <p:nvPr/>
        </p:nvSpPr>
        <p:spPr>
          <a:xfrm>
            <a:off x="609600" y="6159499"/>
            <a:ext cx="10972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Marcos Almeida é o personagem da simulação A3. RF03 da A3 e RF3 da A4/A5 têm significados diferentes.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C66AEBC-04E6-BA86-A90A-7B8970D377AB}"/>
              </a:ext>
            </a:extLst>
          </p:cNvPr>
          <p:cNvSpPr txBox="1"/>
          <p:nvPr/>
        </p:nvSpPr>
        <p:spPr>
          <a:xfrm>
            <a:off x="609600" y="6591300"/>
            <a:ext cx="10731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11 · Arthur  /  TECHFIX · AP2</a:t>
            </a:r>
          </a:p>
        </p:txBody>
      </p:sp>
    </p:spTree>
    <p:extLst>
      <p:ext uri="{BB962C8B-B14F-4D97-AF65-F5344CB8AC3E}">
        <p14:creationId xmlns:p14="http://schemas.microsoft.com/office/powerpoint/2010/main" val="2088453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D0FBDA1-1B65-DA86-E76B-E8120CDD1E9B}"/>
              </a:ext>
            </a:extLst>
          </p:cNvPr>
          <p:cNvSpPr txBox="1"/>
          <p:nvPr/>
        </p:nvSpPr>
        <p:spPr>
          <a:xfrm>
            <a:off x="609600" y="3556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A10 · MATRIZ RESUMIDA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5D4482-8251-B2C1-799F-61204C692B93}"/>
              </a:ext>
            </a:extLst>
          </p:cNvPr>
          <p:cNvSpPr txBox="1"/>
          <p:nvPr/>
        </p:nvSpPr>
        <p:spPr>
          <a:xfrm>
            <a:off x="609600" y="736599"/>
            <a:ext cx="109728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3200">
                <a:solidFill>
                  <a:srgbClr val="16354D"/>
                </a:solidFill>
                <a:latin typeface="Ancizar Serif SemiBold" panose="020A0002070300000003" pitchFamily="18" charset="0"/>
              </a:rPr>
              <a:t>Requisitos ligados à origem e aos componentes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D493340-A084-CFC1-CB8A-3C0EACB50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942819"/>
              </p:ext>
            </p:extLst>
          </p:nvPr>
        </p:nvGraphicFramePr>
        <p:xfrm>
          <a:off x="533400" y="1943100"/>
          <a:ext cx="1112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00">
                  <a:extLst>
                    <a:ext uri="{9D8B030D-6E8A-4147-A177-3AD203B41FA5}">
                      <a16:colId xmlns:a16="http://schemas.microsoft.com/office/drawing/2014/main" val="4283669713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3308995557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661577048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146282665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25862844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Requisito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Origem na A3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A8 · itens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Modelo / decisão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4A1F24"/>
                          </a:solidFill>
                          <a:latin typeface="Mozilla Text SemiBold" pitchFamily="2" charset="0"/>
                        </a:rPr>
                        <a:t>Componentes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3175" cmpd="sng">
                      <a:solidFill>
                        <a:srgbClr val="F7FAFB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35817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RF1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p. 2 RF01/02; p. 3 RF14</a:t>
                      </a:r>
                      <a:endParaRPr lang="pt-BR" sz="1150">
                        <a:solidFill>
                          <a:srgbClr val="272525"/>
                        </a:solidFill>
                        <a:latin typeface="Mozilla Text" pitchFamily="2" charset="0"/>
                      </a:endParaRP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R02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A9 §2.2/2.3: cadastro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C1, C2, C4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4137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RF2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p. 2 RF03–RF05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R03/06/07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A9: abertura; A10 §2.3: ciclo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C1–C4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14693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RF3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p. 2 RF06/07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R04/05/08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A10 §2.6: consulta/histórico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C1, C2, C4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0848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RN1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p. 2 RF04; A5 refina regra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R03/06/07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A10 §2.3: sem regressão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C2, C4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8732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RNF1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p. 2–3 RNF01–03; A5: metas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R09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A8 §2.4 / A10 §2.6: medição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C1, C2, C4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0882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RNF2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p. 2 RF12; p. 3 RNF04/05</a:t>
                      </a:r>
                      <a:endParaRPr lang="pt-BR" sz="1150">
                        <a:solidFill>
                          <a:srgbClr val="272525"/>
                        </a:solidFill>
                        <a:latin typeface="Mozilla Text" pitchFamily="2" charset="0"/>
                      </a:endParaRP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R01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A9/A10: autorizar no servidor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C2, C3, C4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9323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HU1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p. 2 RF01–03/06/07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R02–05/08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A9: atendente; A10: consulta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C1–C4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1603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HU2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p. 2 RF04/05/12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R05–07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A10: técnico; tela a detalhar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>
                          <a:solidFill>
                            <a:srgbClr val="272525"/>
                          </a:solidFill>
                          <a:latin typeface="Mozilla Text" pitchFamily="2" charset="0"/>
                        </a:rPr>
                        <a:t>C1–C4</a:t>
                      </a:r>
                    </a:p>
                  </a:txBody>
                  <a:tcPr marL="114300" marR="101600" marT="76200" marB="76200" anchor="ctr">
                    <a:lnL w="3175" cmpd="sng">
                      <a:solidFill>
                        <a:srgbClr val="F7FAFB"/>
                      </a:solidFill>
                    </a:lnL>
                    <a:lnR w="3175" cmpd="sng">
                      <a:solidFill>
                        <a:srgbClr val="F7FAFB"/>
                      </a:solidFill>
                    </a:lnR>
                    <a:lnT w="7620" cmpd="sng">
                      <a:solidFill>
                        <a:srgbClr val="DCE5E7"/>
                      </a:solidFill>
                    </a:lnT>
                    <a:lnB w="7620" cmpd="sng">
                      <a:solidFill>
                        <a:srgbClr val="DCE5E7"/>
                      </a:solidFill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60797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6450AB21-F308-9A1B-DBA0-175B2C4D95B1}"/>
              </a:ext>
            </a:extLst>
          </p:cNvPr>
          <p:cNvSpPr txBox="1"/>
          <p:nvPr/>
        </p:nvSpPr>
        <p:spPr>
          <a:xfrm>
            <a:off x="533400" y="6184899"/>
            <a:ext cx="11125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4A1F24"/>
                </a:solidFill>
                <a:latin typeface="Mozilla Text" pitchFamily="2" charset="0"/>
              </a:rPr>
              <a:t>Fonte: A3 §4; matriz completa em A10 §2.5. C3 autoriza transversalmente as operações protegidas.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582430-2779-A2D6-135C-C6A2DAAB8C9A}"/>
              </a:ext>
            </a:extLst>
          </p:cNvPr>
          <p:cNvSpPr txBox="1"/>
          <p:nvPr/>
        </p:nvSpPr>
        <p:spPr>
          <a:xfrm>
            <a:off x="609600" y="6591300"/>
            <a:ext cx="10731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12 · Lucas  /  TECHFIX · AP2</a:t>
            </a:r>
          </a:p>
        </p:txBody>
      </p:sp>
    </p:spTree>
    <p:extLst>
      <p:ext uri="{BB962C8B-B14F-4D97-AF65-F5344CB8AC3E}">
        <p14:creationId xmlns:p14="http://schemas.microsoft.com/office/powerpoint/2010/main" val="593781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7B767AA-18C0-24FF-4378-0FB68125FB2B}"/>
              </a:ext>
            </a:extLst>
          </p:cNvPr>
          <p:cNvSpPr txBox="1"/>
          <p:nvPr/>
        </p:nvSpPr>
        <p:spPr>
          <a:xfrm>
            <a:off x="609600" y="3556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FECHAMENTO · QUALIDADE E EVOLUÇÃO NA 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4C65EA-BAFA-B3D1-D10A-C970D80F8FB3}"/>
              </a:ext>
            </a:extLst>
          </p:cNvPr>
          <p:cNvSpPr txBox="1"/>
          <p:nvPr/>
        </p:nvSpPr>
        <p:spPr>
          <a:xfrm>
            <a:off x="609600" y="736599"/>
            <a:ext cx="109728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3200">
                <a:solidFill>
                  <a:srgbClr val="16354D"/>
                </a:solidFill>
                <a:latin typeface="Ancizar Serif SemiBold" panose="020A0002070300000003" pitchFamily="18" charset="0"/>
              </a:rPr>
              <a:t>As quatro peças orientam a próxima etapa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8DCEDEB-E51C-9696-A068-01A89689B497}"/>
              </a:ext>
            </a:extLst>
          </p:cNvPr>
          <p:cNvSpPr txBox="1"/>
          <p:nvPr/>
        </p:nvSpPr>
        <p:spPr>
          <a:xfrm>
            <a:off x="609600" y="2070099"/>
            <a:ext cx="2794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A7 · Processo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197B635-AF7D-C318-3F53-D090A024B90B}"/>
              </a:ext>
            </a:extLst>
          </p:cNvPr>
          <p:cNvSpPr txBox="1"/>
          <p:nvPr/>
        </p:nvSpPr>
        <p:spPr>
          <a:xfrm>
            <a:off x="609600" y="2425699"/>
            <a:ext cx="55118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Como trabalhar e verificar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A317C55-65C3-19CC-98D2-22C3D6896983}"/>
              </a:ext>
            </a:extLst>
          </p:cNvPr>
          <p:cNvSpPr txBox="1"/>
          <p:nvPr/>
        </p:nvSpPr>
        <p:spPr>
          <a:xfrm>
            <a:off x="609600" y="2781299"/>
            <a:ext cx="2794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A8 · Planejamento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AE10A47-7344-BA3A-CB1E-1A52B5443C3D}"/>
              </a:ext>
            </a:extLst>
          </p:cNvPr>
          <p:cNvSpPr txBox="1"/>
          <p:nvPr/>
        </p:nvSpPr>
        <p:spPr>
          <a:xfrm>
            <a:off x="609600" y="3136899"/>
            <a:ext cx="55118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O que entrega valor e em que ordem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024D3-FDFB-7B14-424D-5965433610FF}"/>
              </a:ext>
            </a:extLst>
          </p:cNvPr>
          <p:cNvSpPr txBox="1"/>
          <p:nvPr/>
        </p:nvSpPr>
        <p:spPr>
          <a:xfrm>
            <a:off x="609600" y="3492499"/>
            <a:ext cx="2794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A9 · Modelos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2436993-6BC0-C2F5-3672-1DF2AC0EF4C0}"/>
              </a:ext>
            </a:extLst>
          </p:cNvPr>
          <p:cNvSpPr txBox="1"/>
          <p:nvPr/>
        </p:nvSpPr>
        <p:spPr>
          <a:xfrm>
            <a:off x="609600" y="3848099"/>
            <a:ext cx="55118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Como o comportamento deve ocorrer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F61F60D-4808-2E1C-6BEF-55513D5162AA}"/>
              </a:ext>
            </a:extLst>
          </p:cNvPr>
          <p:cNvSpPr txBox="1"/>
          <p:nvPr/>
        </p:nvSpPr>
        <p:spPr>
          <a:xfrm>
            <a:off x="609600" y="4203699"/>
            <a:ext cx="2794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116B70"/>
                </a:solidFill>
                <a:latin typeface="Ancizar Serif SemiBold" panose="020A0002070300000003" pitchFamily="18" charset="0"/>
              </a:rPr>
              <a:t>A10 · Arquitetura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45CE8CF-63E6-BA67-A64C-3A16F3BCECA5}"/>
              </a:ext>
            </a:extLst>
          </p:cNvPr>
          <p:cNvSpPr txBox="1"/>
          <p:nvPr/>
        </p:nvSpPr>
        <p:spPr>
          <a:xfrm>
            <a:off x="609600" y="4559299"/>
            <a:ext cx="55118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Qual componente atende ao requisito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7347555-AF6C-1D99-840D-8410E984665F}"/>
              </a:ext>
            </a:extLst>
          </p:cNvPr>
          <p:cNvSpPr/>
          <p:nvPr/>
        </p:nvSpPr>
        <p:spPr>
          <a:xfrm>
            <a:off x="6578600" y="1955800"/>
            <a:ext cx="5003800" cy="3263900"/>
          </a:xfrm>
          <a:prstGeom prst="rect">
            <a:avLst/>
          </a:prstGeom>
          <a:solidFill>
            <a:srgbClr val="E7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905713D-34FF-B61E-894D-BE3151E02311}"/>
              </a:ext>
            </a:extLst>
          </p:cNvPr>
          <p:cNvSpPr txBox="1"/>
          <p:nvPr/>
        </p:nvSpPr>
        <p:spPr>
          <a:xfrm>
            <a:off x="6845300" y="2184399"/>
            <a:ext cx="44831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2000">
                <a:solidFill>
                  <a:srgbClr val="4A1F24"/>
                </a:solidFill>
                <a:latin typeface="Ancizar Serif SemiBold" panose="020A0002070300000003" pitchFamily="18" charset="0"/>
              </a:rPr>
              <a:t>Na AS: integrar e comprovar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596C5DE-4533-070F-CBD4-EC7AF1768431}"/>
              </a:ext>
            </a:extLst>
          </p:cNvPr>
          <p:cNvSpPr txBox="1"/>
          <p:nvPr/>
        </p:nvSpPr>
        <p:spPr>
          <a:xfrm>
            <a:off x="6845300" y="2781299"/>
            <a:ext cx="44831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400">
                <a:solidFill>
                  <a:srgbClr val="272525"/>
                </a:solidFill>
                <a:latin typeface="Mozilla Text" pitchFamily="2" charset="0"/>
              </a:rPr>
              <a:t>•  Integrar interface, API e banco
•  Autorizar cada operação no servidor
•  Testar regras, estados e falhas
•  Medir desempenho e registrar evidências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6339EAF9-FC97-AD1E-0137-B2D7F486AE3A}"/>
              </a:ext>
            </a:extLst>
          </p:cNvPr>
          <p:cNvCxnSpPr/>
          <p:nvPr/>
        </p:nvCxnSpPr>
        <p:spPr>
          <a:xfrm>
            <a:off x="6845300" y="4343400"/>
            <a:ext cx="4483100" cy="0"/>
          </a:xfrm>
          <a:prstGeom prst="line">
            <a:avLst/>
          </a:prstGeom>
          <a:ln w="15240">
            <a:solidFill>
              <a:srgbClr val="116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A146FB8-F0E8-F4EB-6C7F-E6A22988B171}"/>
              </a:ext>
            </a:extLst>
          </p:cNvPr>
          <p:cNvSpPr txBox="1"/>
          <p:nvPr/>
        </p:nvSpPr>
        <p:spPr>
          <a:xfrm>
            <a:off x="6845300" y="4546599"/>
            <a:ext cx="44831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200">
                <a:solidFill>
                  <a:srgbClr val="272525"/>
                </a:solidFill>
                <a:latin typeface="Mozilla Text" pitchFamily="2" charset="0"/>
              </a:rPr>
              <a:t>Hoje: frontend local e Java separados. A integração é trabalho planejado.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D649EB86-6F37-6748-9609-E52680F0F5CF}"/>
              </a:ext>
            </a:extLst>
          </p:cNvPr>
          <p:cNvCxnSpPr/>
          <p:nvPr/>
        </p:nvCxnSpPr>
        <p:spPr>
          <a:xfrm>
            <a:off x="609600" y="5499100"/>
            <a:ext cx="10972800" cy="0"/>
          </a:xfrm>
          <a:prstGeom prst="line">
            <a:avLst/>
          </a:prstGeom>
          <a:ln w="15240">
            <a:solidFill>
              <a:srgbClr val="116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84C7866-26F0-00F4-65ED-AC49367501A6}"/>
              </a:ext>
            </a:extLst>
          </p:cNvPr>
          <p:cNvSpPr txBox="1"/>
          <p:nvPr/>
        </p:nvSpPr>
        <p:spPr>
          <a:xfrm>
            <a:off x="609600" y="5689599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600">
                <a:solidFill>
                  <a:srgbClr val="16354D"/>
                </a:solidFill>
                <a:latin typeface="Mozilla Text SemiBold" pitchFamily="2" charset="0"/>
              </a:rPr>
              <a:t>RNF1: ≥95% das operações em até 2 s, com até 10.000 OS. Registrar ambiente e cenário.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982CD32-771C-C383-4B45-F6B3AA5709B0}"/>
              </a:ext>
            </a:extLst>
          </p:cNvPr>
          <p:cNvSpPr txBox="1"/>
          <p:nvPr/>
        </p:nvSpPr>
        <p:spPr>
          <a:xfrm>
            <a:off x="609600" y="6184899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1050">
                <a:solidFill>
                  <a:srgbClr val="6E4F4A"/>
                </a:solidFill>
                <a:latin typeface="IBM Plex Mono" panose="020B0509050203000203" pitchFamily="49" charset="0"/>
              </a:rPr>
              <a:t>Exposição: 11 minutos · Perguntas: 4 minutos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6B3F7B7-7102-8C90-98E3-E545E80CCB68}"/>
              </a:ext>
            </a:extLst>
          </p:cNvPr>
          <p:cNvSpPr txBox="1"/>
          <p:nvPr/>
        </p:nvSpPr>
        <p:spPr>
          <a:xfrm>
            <a:off x="609600" y="6591300"/>
            <a:ext cx="10731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</a:pPr>
            <a:r>
              <a:rPr lang="pt-BR" sz="900">
                <a:solidFill>
                  <a:srgbClr val="6E4F4A"/>
                </a:solidFill>
                <a:latin typeface="IBM Plex Mono" panose="020B0509050203000203" pitchFamily="49" charset="0"/>
              </a:rPr>
              <a:t>13 · Arthur e Lucas  /  TECHFIX · AP2</a:t>
            </a:r>
          </a:p>
        </p:txBody>
      </p:sp>
    </p:spTree>
    <p:extLst>
      <p:ext uri="{BB962C8B-B14F-4D97-AF65-F5344CB8AC3E}">
        <p14:creationId xmlns:p14="http://schemas.microsoft.com/office/powerpoint/2010/main" val="29880157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3547</Words>
  <Application>Microsoft Office PowerPoint</Application>
  <PresentationFormat>Personalizar</PresentationFormat>
  <Paragraphs>366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Arial</vt:lpstr>
      <vt:lpstr>Aptos Display</vt:lpstr>
      <vt:lpstr>IBM Plex Mono</vt:lpstr>
      <vt:lpstr>Ancizar Serif SemiBold</vt:lpstr>
      <vt:lpstr>Mozilla Text SemiBold</vt:lpstr>
      <vt:lpstr>Aptos</vt:lpstr>
      <vt:lpstr>Mozilla Text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Avila Scharfenberger</dc:creator>
  <cp:lastModifiedBy>Arthur Avila Scharfenberger</cp:lastModifiedBy>
  <cp:revision>1</cp:revision>
  <dcterms:created xsi:type="dcterms:W3CDTF">2026-10-07T18:03:42Z</dcterms:created>
  <dcterms:modified xsi:type="dcterms:W3CDTF">2026-10-07T18:03:43Z</dcterms:modified>
</cp:coreProperties>
</file>