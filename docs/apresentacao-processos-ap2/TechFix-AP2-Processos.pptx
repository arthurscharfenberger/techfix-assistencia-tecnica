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2CC59-3887-491D-A005-7F1901112E55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3BF6EC-3F06-4EF0-9012-F03681D629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263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Somos Arthur e Lucas. Nesta AP2 de Processos de Engenharia de Software, vamos mostrar como organizamos o trabalho e como processo, planejamento, modelos e arquitetura se conectam. Vamos usar a abertura de uma ordem de serviço como exemplo ao longo da apresentação.</a:t>
            </a:r>
          </a:p>
          <a:p>
            <a:endParaRPr lang="pt-BR"/>
          </a:p>
          <a:p>
            <a:r>
              <a:rPr lang="pt-BR"/>
              <a:t>Tempo planejado: 20 segundos.</a:t>
            </a:r>
          </a:p>
          <a:p>
            <a:r>
              <a:rPr lang="pt-BR"/>
              <a:t>Fontes locais: A7-Processo-Entrega-Final.md; A8-Entrega-Final-Revisada.md; Modelagem-Entrega-Final.md; A10-Arquitetura-Rastreabilidade-Final.md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304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descoberta foi documentada na A3 como entrevista semiestruturada simulada com Marcos Almeida, atendente. O problema é o atendimento registrado em papel ou planilhas, que dificulta localizar informações e acompanhar o serviço. RF03, RF04 e RF05 da A3 tratam de OS, estado e técnico responsável. A4 consolida as necessidades e A5 refina critérios e prioridades. A numeração mudou: RF03 na A3 trata de OS; RF3 na A4/A5 trata de consulta e histórico. A AP2 organiza como construir essa solução.</a:t>
            </a:r>
          </a:p>
          <a:p>
            <a:endParaRPr lang="pt-BR"/>
          </a:p>
          <a:p>
            <a:r>
              <a:rPr lang="pt-BR"/>
              <a:t>Tempo planejado: 40 segundos.</a:t>
            </a:r>
          </a:p>
          <a:p>
            <a:r>
              <a:rPr lang="pt-BR"/>
              <a:t>Fontes locais: Atividade_03_Levantamento_Requisitos_TechFix.pdf, p. 1–2, §3 e §4.1; docs/Atividade04.md, RE1–RE3; A5 §2.2.2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97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A2 escolheu desenvolvimento incremental com práticas ágeis, e confirmamos o ciclo iterativo e incremental. Na A7 definimos Scrum, com Sprints planejadas de uma semana. Essa cadência permite selecionar trabalho conforme nossa disponibilidade e revisar o resultado. Eu acumulo Scrum Master e desenvolvimento. Lucas também desenvolve, participa das estimativas e revisa minhas alterações; eu reviso as dele. Chico Mosca representa a assistência como Product Owner, ordenando necessidades e validando o resultado de negócio. A divisão inicial dá foco à interface para mim e às regras e persistência para Lucas, mas ambos precisam compreender o sistema. Não estamos afirmando um histórico de Sprints executadas.</a:t>
            </a:r>
          </a:p>
          <a:p>
            <a:endParaRPr lang="pt-BR"/>
          </a:p>
          <a:p>
            <a:r>
              <a:rPr lang="pt-BR"/>
              <a:t>Tempo planejado: 60 segundos.</a:t>
            </a:r>
          </a:p>
          <a:p>
            <a:r>
              <a:rPr lang="pt-BR"/>
              <a:t>Fontes locais: docs/entregas-processos/atividade02-12-08.pdf, seção 2; A7-Processo-Entrega-Final.md, 2.1–2.3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978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tarefa nasce de um requisito e entra no backlog. No planejamento selecionamos o que cabe na Sprint e definimos executor e revisor. Depois vêm desenvolvimento, revisão pelo colega e verificação. A tarefa só fica pronta tecnicamente quando atende aos critérios de aceitação, tem revisão registrada, testes pertinentes e documentação atualizada. Na validação, Chico observa o resultado apresentado pela interface. Conclusão técnica e validação de negócio são registros diferentes. Se houver falha, corrigimos; se surgir uma nova necessidade, ela volta ao backlog. Isso aplica a melhoria que Arthur propôs na A6: revisar antes de dar algo por concluído.</a:t>
            </a:r>
          </a:p>
          <a:p>
            <a:endParaRPr lang="pt-BR"/>
          </a:p>
          <a:p>
            <a:r>
              <a:rPr lang="pt-BR"/>
              <a:t>Tempo planejado: 50 segundos.</a:t>
            </a:r>
          </a:p>
          <a:p>
            <a:r>
              <a:rPr lang="pt-BR"/>
              <a:t>Fontes locais: A7-Processo-Entrega-Final.md, 2.4–2.5; Atividade_06_Reflexao_Individual_Arthur_Scharfenberger.pdf, plano de melhoria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8160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backlog revisado tem nove itens e cobre os oito requisitos e histórias priorizados na A5. O primeiro incremento permite receber e localizar um atendimento: acesso por perfil, cadastro, abertura, consulta por número e histórico inicial. O segundo permite acompanhar e concluir o serviço: atribuição ao técnico, início e conclusão, buscas complementares e comprovação de desempenho. São recortes de valor ao usuário e podem ocupar várias Sprints. O histórico começa no I1 e acompanha as atualizações do I2. Pagamento online, avaliação e relatório gerencial ficaram fora desta linha de base porque não têm requisito correspondente na A5.</a:t>
            </a:r>
          </a:p>
          <a:p>
            <a:endParaRPr lang="pt-BR"/>
          </a:p>
          <a:p>
            <a:r>
              <a:rPr lang="pt-BR"/>
              <a:t>Tempo planejado: 60 segundos.</a:t>
            </a:r>
          </a:p>
          <a:p>
            <a:r>
              <a:rPr lang="pt-BR"/>
              <a:t>Fontes locais: A8-Entrega-Final-Revisada.md, 2.1–2.2, 2.4 e 2.6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424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Usamos tamanhos P, M e G. A busca exata por número, A8R04, é a referência P. Um cadastro com validações e relacionamento, como A8R02, é M. Autorização e desempenho são G porque têm incerteza e exigem verificação transversal. O tamanho inclui interface, regras, armazenamento e verificação, sem equivalência fixa em horas. O I1 reúne um P, três M e um G; o I2 reúne três M e um G. Os valores nos documentos ainda são propostas. Para registrar consenso, cada um estima separadamente, comparamos as diferenças e registramos o argumento do acordo. Não devemos afirmar que isso já ocorreu sem esse registro.</a:t>
            </a:r>
          </a:p>
          <a:p>
            <a:endParaRPr lang="pt-BR"/>
          </a:p>
          <a:p>
            <a:r>
              <a:rPr lang="pt-BR"/>
              <a:t>Tempo planejado: 55 segundos.</a:t>
            </a:r>
          </a:p>
          <a:p>
            <a:r>
              <a:rPr lang="pt-BR"/>
              <a:t>Fontes locais: A8-Entrega-Final-Revisada.md, 2.2–2.4; Registro-Revisao-Equipe.md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99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Classificamos probabilidade e impacto de um a três. O produto define o nível: um a dois é baixo, três a quatro moderado e seis a nove alto. O risco de acesso indevido tem nove porque o login atual é local no navegador e não comprova segurança no servidor. A mitigação é autorização no servidor e teste de acesso direto, bloqueando implantação enquanto falhar. Perder histórico tem seis: mudança da OS e evento devem ser gravados juntos. O risco de desempenho tem quatro; exige massa de até dez mil OS e medição por operação. O risco de escopo tem nove e é tratado mantendo o vínculo A5 e backlog. Responsáveis propostos: Arthur em escopo e acesso, Lucas em histórico e desempenho.</a:t>
            </a:r>
          </a:p>
          <a:p>
            <a:endParaRPr lang="pt-BR"/>
          </a:p>
          <a:p>
            <a:r>
              <a:rPr lang="pt-BR"/>
              <a:t>Tempo planejado: 60 segundos.</a:t>
            </a:r>
          </a:p>
          <a:p>
            <a:r>
              <a:rPr lang="pt-BR"/>
              <a:t>Fontes locais: A8-Entrega-Final-Revisada.md, 2.5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547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Modelamos A8R02 e A8R03 porque cadastro e abertura iniciam o atendimento. Este slide reorganiza para leitura o fluxo da A9. Primeiro o atendente precisa de identidade e permissão válidas. Depois seleciona ou cadastra cliente e equipamento, com validação de obrigatórios e vínculo. A confirmação grava OS e evento inicial de histórico juntos. Só o sucesso apresenta número, data e estado ABERTA. A utilidade do fluxograma é explicitar decisões e exceções: negar acesso, corrigir campos e preservar dados se a gravação falhar. O esboço trazia principalmente o caminho de sucesso; a versão final inclui esses retornos.</a:t>
            </a:r>
          </a:p>
          <a:p>
            <a:endParaRPr lang="pt-BR"/>
          </a:p>
          <a:p>
            <a:r>
              <a:rPr lang="pt-BR"/>
              <a:t>Tempo planejado: 55 segundos.</a:t>
            </a:r>
          </a:p>
          <a:p>
            <a:r>
              <a:rPr lang="pt-BR"/>
              <a:t>Fontes locais: Modelagem-Entrega-Final.md, 2.1–2.2 e 2.5; final-fluxograma.png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234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wireframe mostra onde o atendente realiza o fluxo. Ele seleciona o cliente e vê somente equipamentos vinculados a esse cliente. Se necessário, usa o cadastro rápido com nome, telefone, tipo e defeito. Número, data e estado são gerados pelo sistema. No sucesso, a tela apresenta o protocolo; na falha, mantém o formulário. Este desenho ajuda a discutir campos e mensagens com o PO antes da implementação integrada. Fluxograma e wireframe são complementares: um mostra sequência e exceções, o outro mostra a interação. Os textos de sucesso e falha neste modelo são estados alternativos.</a:t>
            </a:r>
          </a:p>
          <a:p>
            <a:endParaRPr lang="pt-BR"/>
          </a:p>
          <a:p>
            <a:r>
              <a:rPr lang="pt-BR"/>
              <a:t>Tempo planejado: 55 segundos.</a:t>
            </a:r>
          </a:p>
          <a:p>
            <a:r>
              <a:rPr lang="pt-BR"/>
              <a:t>Fontes locais: Modelagem-Entrega-Final.md, 2.3–2.4; final-wireframe.png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701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arquitetura tem quatro responsabilidades. C1 é a interface. C2 recebe operações e aplica as regras. C3 identifica o usuário e verifica permissões no servidor. C4 persiste os dados e o histórico. A interface chama a API, a API consulta a autorização e só então executa a operação. A interface não acessa diretamente o banco. Na abertura, OS e evento inicial precisam ser gravados na mesma transação. A divisão permite trabalhar em componentes diferentes e fazer revisão cruzada, como pede a A7. Não exige microsserviços; os componentes podem estar na mesma aplicação. Hoje o frontend usa armazenamento local e o Java executa separadamente. API, autenticação de servidor, banco e integração são propostos.</a:t>
            </a:r>
          </a:p>
          <a:p>
            <a:endParaRPr lang="pt-BR"/>
          </a:p>
          <a:p>
            <a:r>
              <a:rPr lang="pt-BR"/>
              <a:t>Tempo planejado: 65 segundos.</a:t>
            </a:r>
          </a:p>
          <a:p>
            <a:r>
              <a:rPr lang="pt-BR"/>
              <a:t>Fontes locais: A10-Arquitetura-Rastreabilidade-Final.md, 2.2–2.4 e 2.7; A10-Arquitetura.svg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848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Vamos percorrer RF2 desde a origem. Na A3, página 2, seção 3, o resumo da entrevista simulada com Marcos Almeida registra OS, estados e técnico responsável. A seção 4.1 os identifica como RF03, RF04 e RF05. A A4 consolida a necessidade em RE2, RF2 e RN1; HU1 e HU2 representam atendente e técnico. A A5 refina critérios e prioridades. No backlog, A8R03 abre a OS no I1; A8R06 e A8R07 tratam de início e conclusão no I2. A9 detalha abertura com fluxograma e wireframe. A10 atribui à interface a interação, à lógica a criação e o ciclo, à autorização o controle de acesso e à persistência a OS e os eventos. Esse caminho permite verificar de onde vem o trabalho e por que os componentes existem. A simulação da A3 é a origem documental, não uma entrevista real comprovada.</a:t>
            </a:r>
          </a:p>
          <a:p>
            <a:endParaRPr lang="pt-BR"/>
          </a:p>
          <a:p>
            <a:r>
              <a:rPr lang="pt-BR"/>
              <a:t>Tempo planejado: 70 segundos.</a:t>
            </a:r>
          </a:p>
          <a:p>
            <a:r>
              <a:rPr lang="pt-BR"/>
              <a:t>Fontes locais: Atividade_03_Levantamento_Requisitos_TechFix.pdf, p. 2, §3 e §4.1 RF03–RF05 → docs/Atividade04.md RE2/RF2/RN1/HU1/HU2 → A5 §2.2.2 → A8 §2.2 R03/R06/R07 → Modelagem §2.2–2.3 → A10 §2.5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7943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protótipo já permite demonstrar a interface com armazenamento local, e as classes Java representam parte do domínio. A integração completa ainda precisa ser construída. Na AS, vamos transformar os critérios em testes: cadastro inválido, vínculo de equipamento, estados da OS, falha de gravação e autorização por perfil. Para RNF1, a meta é pelo menos noventa e cinco por cento das operações em até dois segundos, com base de até dez mil OS. Devemos registrar ambiente e cenário; os dez usuários simultâneos e cem operações por fluxo são parâmetros propostos, ainda a confirmar. A evolução precisa manter a rastreabilidade e corrigir falhas antes da implantação.</a:t>
            </a:r>
          </a:p>
          <a:p>
            <a:endParaRPr lang="pt-BR"/>
          </a:p>
          <a:p>
            <a:r>
              <a:rPr lang="pt-BR"/>
              <a:t>Tempo planejado: 50 segundos.</a:t>
            </a:r>
          </a:p>
          <a:p>
            <a:r>
              <a:rPr lang="pt-BR"/>
              <a:t>Fontes locais: A8 2.4–2.5; A10 2.6–2.7; A7 2.5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954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Arthur: O processo define como trabalhamos e verificamos a qualidade. O planejamento seleciona o que entrega valor. Lucas: Os modelos explicam o comportamento esperado, e a arquitetura distribui as responsabilidades. Na AS, os critérios viram evidências de qualidade e testes. Estamos disponíveis para as perguntas.</a:t>
            </a:r>
          </a:p>
          <a:p>
            <a:endParaRPr lang="pt-BR"/>
          </a:p>
          <a:p>
            <a:r>
              <a:rPr lang="pt-BR"/>
              <a:t>Tempo planejado: 20 segundos.</a:t>
            </a:r>
          </a:p>
          <a:p>
            <a:r>
              <a:rPr lang="pt-BR"/>
              <a:t>Fontes locais: Síntese das atividades A7, A8, A9 e A10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342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Esta tabela apoia perguntas sobre cobertura. RF1 está em A8R02. RF2 e RN1 estão em A8R03/06/07. RF3 está em A8R04/05/08. RNF2 é transversal por A8R01. RNF1 está em A8R09. HU1 reúne cadastro e consulta, e HU2 acompanhamento pelo técnico. Não trate HU1 e HU2 como trabalho duplicado. A matriz completa e as pendências de origem estão na A10.</a:t>
            </a:r>
          </a:p>
          <a:p>
            <a:endParaRPr lang="pt-BR"/>
          </a:p>
          <a:p>
            <a:r>
              <a:rPr lang="pt-BR"/>
              <a:t>Tempo planejado: 0 segundos.</a:t>
            </a:r>
          </a:p>
          <a:p>
            <a:r>
              <a:rPr lang="pt-BR"/>
              <a:t>Fontes locais: A10-Arquitetura-Rastreabilidade-Final.md, 2.5; A8-Entrega-Final-Revisada.md, 2.2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528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Se perguntarem como testar, usem exemplos concretos. Uma abertura válida deve criar número único, data e estado ABERTA, com evento inicial. Uma falha de gravação deve desfazer OS e evento. Uma OS concluída não pode retornar. Um perfil sem permissão deve ser bloqueado mesmo chamando diretamente a API. RNF1 exige medições reais, por operação, no cenário registrado. São critérios planejados, não resultados de uma API integrada já testada.</a:t>
            </a:r>
          </a:p>
          <a:p>
            <a:endParaRPr lang="pt-BR"/>
          </a:p>
          <a:p>
            <a:r>
              <a:rPr lang="pt-BR"/>
              <a:t>Tempo planejado: 0 segundos.</a:t>
            </a:r>
          </a:p>
          <a:p>
            <a:r>
              <a:rPr lang="pt-BR"/>
              <a:t>Fontes locais: A5 critérios de aceitação 2.2.2; A10 2.6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462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As fontes estão registradas nas notas de cada slide e no mapa de fontes. A3 documenta uma entrevista simulada com Marcos Almeida. Chico Mosca aparece como PO proposto na A7, com base no feedback; não confundir as duas pessoas. A1 ficou fora desta revisão por orientação da equipe. Restam o consenso das estimativas, a agenda de validação com o PO, a conciliação da cópia local da A5 com a versão avaliada e a conferência da correspondência dos modelos com a A9 enviada. Não inventar reuniões ou testes. O apoio de IA está declarado na ficha e no DEVLOG; ambos precisam revisar e compreender o conteúdo.</a:t>
            </a:r>
          </a:p>
          <a:p>
            <a:endParaRPr lang="pt-BR"/>
          </a:p>
          <a:p>
            <a:r>
              <a:rPr lang="pt-BR"/>
              <a:t>Tempo planejado: 0 segundos.</a:t>
            </a:r>
          </a:p>
          <a:p>
            <a:r>
              <a:rPr lang="pt-BR"/>
              <a:t>Fontes locais: Atividade_03_Levantamento_Requisitos_TechFix.pdf; docs/entregas-processos/README.md; Registro-Revisao-Equipe.md; DEVLOG.md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BF6EC-3F06-4EF0-9012-F03681D6294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249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BED9F-3417-AD83-3554-C070AD32E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092DFB-D630-FDAE-B87B-E3B834D67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4A3298-9A57-5034-E683-E593A375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30FB9C-2699-8ADA-CF72-7907AB4F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F69E0D-C966-3997-2DBB-89A81B4F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28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DE23B-49D8-EA1F-8194-6BA849EE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E16CAD-9491-1AB0-C595-4F0C3780C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149E67-55A5-A81F-CAE7-D085137CC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277B0F-ADEF-7192-A9B6-032D8229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6672A0-0425-52CD-17BD-3BC0910B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066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2FA33-20AF-BFC2-E7B9-9327C9E66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A4B091-6B0E-61CA-74D5-453D7626F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FFC5EF-7DB1-B57B-8E9F-AE725709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DD84BA-6AEF-7673-9684-312B07BA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5CC67C-3FFB-EEFB-A851-338959908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121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45313-7D67-69FD-0FC3-EC13F29F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00EE0D-5322-6EAD-1323-987B84BA8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BEFC50-D48A-794D-948D-F508DBEC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5F98EA-BCD6-95F8-72A2-42E764AF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55E290-274A-7CCD-48A0-633C2E75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E90246-7628-9EF7-1CF8-3F4C377F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31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95A2-48BB-A262-BAD6-16E635E9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F1D688-99FA-CC81-72AF-3FD762DA6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6E8318-DEE2-992A-F23B-D4398014C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751414-CECC-2140-45B0-9CC202015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4EBB1D-56BF-9925-38BB-40D2DC2B0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94DDCBB-4190-A156-AD65-39FC7BC8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CE838E1-03FA-29D3-A40E-9BC0AA0FF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79F21FA-22F3-BAA0-144E-7C19AACF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19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8B544-7054-2721-E40F-F0A898A3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4109DE-89CC-0A14-283A-E3C27289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A50EFB-D558-89CD-4A8F-6F6754A43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AD3F3A7-3178-096C-FA90-B8944E65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88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6C1CD7-7F77-7029-9342-2983A732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7B6C18-D93D-7C68-4590-F7C29D90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D57A6F-80D2-838C-D530-CDA9CDC3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8606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AB89C-3B76-EC42-8AC8-052A2A47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3280C7-8E0F-FEE7-70D7-C318C5750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3AF5FD-8A07-EED5-2338-EED89010D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2E4D54-041E-758E-4D37-3A6C88C92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374EFC-4717-ADE1-0804-3DD3E3AD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C08499-A9B3-A644-9F51-D3A4860D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347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16EA9-758A-F8C2-31FB-FFDE4E92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FB5094-A917-C1F6-A5BF-A0AB7CC6D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60D865-6049-7CD0-F07E-C5444AD37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F93264-D612-7E57-0D4A-0D951699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38CD8D-EFD4-C1F9-DF46-A70C8157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4CDEDA-5273-24EC-CD36-6A9BA40D4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9565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23690-EE40-FFA2-BB1F-3D4F37918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A43CDE4-65DA-D523-9624-1B4DD0298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735640-2B37-2708-B545-738F513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1C22E1-25B4-3E7B-9C6B-0AE0F7D8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6EEAD2-3D23-C37A-DD3A-8CD77D9CD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28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7B6BE0-F805-829E-8F8C-E6727B0E8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004FB4-3162-243F-1DB0-AF41A4CD7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CC4CC8-133F-9EE7-7E53-E4E5363D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B94DCB-6929-C87C-9931-A8745619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41FDB9-DB3D-1942-6CFF-E2590955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54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45661E1-CFA4-E5CC-8E31-FFDB4BCFD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A023E7-4485-CD1E-55BF-853705761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F9BD09-9CEC-FFCF-3FCB-28BAAADA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28A7F-83F4-465A-98C6-D6B6FEB051A7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684F84-6038-A81F-DD2D-9042C8AA3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475A03-8FC9-9866-3985-93880C83F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01943-3474-43E0-AF67-5EA74EF6BF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37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C6F5415-3448-845B-8442-415320B9F503}"/>
              </a:ext>
            </a:extLst>
          </p:cNvPr>
          <p:cNvSpPr txBox="1"/>
          <p:nvPr/>
        </p:nvSpPr>
        <p:spPr>
          <a:xfrm>
            <a:off x="635000" y="685799"/>
            <a:ext cx="10795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600" b="1">
                <a:solidFill>
                  <a:srgbClr val="006F6F"/>
                </a:solidFill>
                <a:latin typeface="Arial" panose="020B0604020202020204" pitchFamily="34" charset="0"/>
              </a:rPr>
              <a:t>AP2  /  ENCONTRO 11  /  07 OUT 2026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16C9F4B-09D7-C4DC-DB91-C951C09C2F23}"/>
              </a:ext>
            </a:extLst>
          </p:cNvPr>
          <p:cNvSpPr txBox="1"/>
          <p:nvPr/>
        </p:nvSpPr>
        <p:spPr>
          <a:xfrm>
            <a:off x="584200" y="1701799"/>
            <a:ext cx="108585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7600" b="1">
                <a:solidFill>
                  <a:srgbClr val="152A3B"/>
                </a:solidFill>
                <a:latin typeface="Arial" panose="020B0604020202020204" pitchFamily="34" charset="0"/>
              </a:rPr>
              <a:t>TechFix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0F5AA1-C542-2986-4A1C-7D922C3CADB0}"/>
              </a:ext>
            </a:extLst>
          </p:cNvPr>
          <p:cNvSpPr txBox="1"/>
          <p:nvPr/>
        </p:nvSpPr>
        <p:spPr>
          <a:xfrm>
            <a:off x="635000" y="3174999"/>
            <a:ext cx="10541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>
                <a:solidFill>
                  <a:srgbClr val="152A3B"/>
                </a:solidFill>
                <a:latin typeface="Arial" panose="020B0604020202020204" pitchFamily="34" charset="0"/>
              </a:rPr>
              <a:t>Processos de Engenharia de Software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267B8F-099C-10AC-C2F8-844E3C65CC85}"/>
              </a:ext>
            </a:extLst>
          </p:cNvPr>
          <p:cNvSpPr txBox="1"/>
          <p:nvPr/>
        </p:nvSpPr>
        <p:spPr>
          <a:xfrm>
            <a:off x="635000" y="4279899"/>
            <a:ext cx="104140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800">
                <a:solidFill>
                  <a:srgbClr val="006F6F"/>
                </a:solidFill>
                <a:latin typeface="Arial" panose="020B0604020202020204" pitchFamily="34" charset="0"/>
              </a:rPr>
              <a:t>Do requisito ao componente que o atende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3A82F7-8DC6-CB79-5472-1AC5FB092A79}"/>
              </a:ext>
            </a:extLst>
          </p:cNvPr>
          <p:cNvSpPr txBox="1"/>
          <p:nvPr/>
        </p:nvSpPr>
        <p:spPr>
          <a:xfrm>
            <a:off x="635000" y="5410199"/>
            <a:ext cx="10541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Arthur Scharfenberger  •  Lucas Oliveira da Silva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D9B69B0-C5A7-042D-C80C-735A7057AD7D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B63A895E-CF5B-62BC-3FC3-3E007B81B3F2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Arthur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7E3A0A6-C409-FA2B-19C3-CF591A0B6DD2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2778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B2F9549-8153-036C-EA36-7C7DE89C7A01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O problema e os requisitos da AP1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CF80A14-1DF7-BBE2-896B-DFB33EAA7D3F}"/>
              </a:ext>
            </a:extLst>
          </p:cNvPr>
          <p:cNvSpPr txBox="1"/>
          <p:nvPr/>
        </p:nvSpPr>
        <p:spPr>
          <a:xfrm>
            <a:off x="508000" y="1333499"/>
            <a:ext cx="10795000" cy="952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800" b="1">
                <a:solidFill>
                  <a:srgbClr val="152A3B"/>
                </a:solidFill>
                <a:latin typeface="Arial" panose="020B0604020202020204" pitchFamily="34" charset="0"/>
              </a:rPr>
              <a:t>Papel e planilhas dificultam localizar e acompanhar os atendimentos.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6838B67-B71F-5E6D-E8CD-5FDF4BA72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736310"/>
              </p:ext>
            </p:extLst>
          </p:nvPr>
        </p:nvGraphicFramePr>
        <p:xfrm>
          <a:off x="508000" y="2400300"/>
          <a:ext cx="11176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3492522792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79091024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74961646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Origem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Necessidade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Requisito consolidado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35908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A3 • §3–4.1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Cliente e equipamento identificados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RF1 • cadastro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30088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A3 • RF03–05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OS, estado e técnico responsável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RF2 + RN1 • acompanhamento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84218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A3 • RF06–07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Pesquisa e histórico dos serviços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RF3 • consulta e histórico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49420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3DED78D5-A161-6BE2-F838-5D9C464E1B57}"/>
              </a:ext>
            </a:extLst>
          </p:cNvPr>
          <p:cNvSpPr txBox="1"/>
          <p:nvPr/>
        </p:nvSpPr>
        <p:spPr>
          <a:xfrm>
            <a:off x="508000" y="5410199"/>
            <a:ext cx="11176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700">
                <a:solidFill>
                  <a:srgbClr val="4E5E69"/>
                </a:solidFill>
                <a:latin typeface="Arial" panose="020B0604020202020204" pitchFamily="34" charset="0"/>
              </a:rPr>
              <a:t>A3: entrevista simulada com Marcos Almeida, atendente. A4/A5 refinam e priorizam; a numeração muda entre os artefatos.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2B6D97D-7111-CA1A-12B3-C59125AD9A57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FA9C83-0754-F5B8-27F0-CF4D099D2F8D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Arthur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C0C8F6A-A254-8179-F304-7D215E2CC058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241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2953A82-36D2-824F-66A3-238833DA64F1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A7  Processo e papéis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F9FBFF4-0D57-80A3-A5A1-439D39B325E2}"/>
              </a:ext>
            </a:extLst>
          </p:cNvPr>
          <p:cNvSpPr txBox="1"/>
          <p:nvPr/>
        </p:nvSpPr>
        <p:spPr>
          <a:xfrm>
            <a:off x="508000" y="12699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700" b="1">
                <a:solidFill>
                  <a:srgbClr val="006F6F"/>
                </a:solidFill>
                <a:latin typeface="Arial" panose="020B0604020202020204" pitchFamily="34" charset="0"/>
              </a:rPr>
              <a:t>Scrum • Sprints planejadas de uma semana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F4CEE3-B319-AE4E-752A-645A33567B04}"/>
              </a:ext>
            </a:extLst>
          </p:cNvPr>
          <p:cNvSpPr txBox="1"/>
          <p:nvPr/>
        </p:nvSpPr>
        <p:spPr>
          <a:xfrm>
            <a:off x="508000" y="19176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300">
                <a:solidFill>
                  <a:srgbClr val="152A3B"/>
                </a:solidFill>
                <a:latin typeface="Arial" panose="020B0604020202020204" pitchFamily="34" charset="0"/>
              </a:rPr>
              <a:t>Ciclo da A2: iterativo e incremental. Equipe pequena, entregas por valor e feedback para ajustar requisitos.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076FF9-FB0A-CBF0-E7E7-20434E812557}"/>
              </a:ext>
            </a:extLst>
          </p:cNvPr>
          <p:cNvSpPr txBox="1"/>
          <p:nvPr/>
        </p:nvSpPr>
        <p:spPr>
          <a:xfrm>
            <a:off x="508000" y="3022599"/>
            <a:ext cx="3429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600" b="1">
                <a:solidFill>
                  <a:srgbClr val="152A3B"/>
                </a:solidFill>
                <a:latin typeface="Arial" panose="020B0604020202020204" pitchFamily="34" charset="0"/>
              </a:rPr>
              <a:t>Arthur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6B0A71-5683-0058-F780-65D5E8FC313F}"/>
              </a:ext>
            </a:extLst>
          </p:cNvPr>
          <p:cNvSpPr txBox="1"/>
          <p:nvPr/>
        </p:nvSpPr>
        <p:spPr>
          <a:xfrm>
            <a:off x="508000" y="3568699"/>
            <a:ext cx="3429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000" b="1">
                <a:solidFill>
                  <a:srgbClr val="006F6F"/>
                </a:solidFill>
                <a:latin typeface="Arial" panose="020B0604020202020204" pitchFamily="34" charset="0"/>
              </a:rPr>
              <a:t>Scrum Master + desenvolvedor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DF6F05F-F85C-DD8B-A512-3425EF2ECBA8}"/>
              </a:ext>
            </a:extLst>
          </p:cNvPr>
          <p:cNvSpPr txBox="1"/>
          <p:nvPr/>
        </p:nvSpPr>
        <p:spPr>
          <a:xfrm>
            <a:off x="508000" y="4356099"/>
            <a:ext cx="34290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Interface e integração; facilita o fluxo e remove impedimentos.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2F40842-F463-2369-8E42-C87815E1565C}"/>
              </a:ext>
            </a:extLst>
          </p:cNvPr>
          <p:cNvSpPr txBox="1"/>
          <p:nvPr/>
        </p:nvSpPr>
        <p:spPr>
          <a:xfrm>
            <a:off x="4318000" y="3022599"/>
            <a:ext cx="3429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600" b="1">
                <a:solidFill>
                  <a:srgbClr val="152A3B"/>
                </a:solidFill>
                <a:latin typeface="Arial" panose="020B0604020202020204" pitchFamily="34" charset="0"/>
              </a:rPr>
              <a:t>Lucas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9FE2448-4A3E-6CA0-74FE-B0934E990140}"/>
              </a:ext>
            </a:extLst>
          </p:cNvPr>
          <p:cNvSpPr txBox="1"/>
          <p:nvPr/>
        </p:nvSpPr>
        <p:spPr>
          <a:xfrm>
            <a:off x="4318000" y="3568699"/>
            <a:ext cx="3429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000" b="1">
                <a:solidFill>
                  <a:srgbClr val="006F6F"/>
                </a:solidFill>
                <a:latin typeface="Arial" panose="020B0604020202020204" pitchFamily="34" charset="0"/>
              </a:rPr>
              <a:t>Desenvolvedor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37AC05C-3BBC-F620-4FB5-07FFD35F8C14}"/>
              </a:ext>
            </a:extLst>
          </p:cNvPr>
          <p:cNvSpPr txBox="1"/>
          <p:nvPr/>
        </p:nvSpPr>
        <p:spPr>
          <a:xfrm>
            <a:off x="4318000" y="4356099"/>
            <a:ext cx="34290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Regras, persistência e testes; participa do planejamento e da revisão.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E1C5307-0134-4315-5274-9A2BDB520A99}"/>
              </a:ext>
            </a:extLst>
          </p:cNvPr>
          <p:cNvSpPr txBox="1"/>
          <p:nvPr/>
        </p:nvSpPr>
        <p:spPr>
          <a:xfrm>
            <a:off x="8128000" y="3022599"/>
            <a:ext cx="3429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600" b="1">
                <a:solidFill>
                  <a:srgbClr val="152A3B"/>
                </a:solidFill>
                <a:latin typeface="Arial" panose="020B0604020202020204" pitchFamily="34" charset="0"/>
              </a:rPr>
              <a:t>Chico Mosca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79D804F-EC99-B0FC-F598-5E6FB4BCB532}"/>
              </a:ext>
            </a:extLst>
          </p:cNvPr>
          <p:cNvSpPr txBox="1"/>
          <p:nvPr/>
        </p:nvSpPr>
        <p:spPr>
          <a:xfrm>
            <a:off x="8128000" y="3568699"/>
            <a:ext cx="3429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000" b="1">
                <a:solidFill>
                  <a:srgbClr val="006F6F"/>
                </a:solidFill>
                <a:latin typeface="Arial" panose="020B0604020202020204" pitchFamily="34" charset="0"/>
              </a:rPr>
              <a:t>PO indicado no planejamento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B7F804F-6E27-4177-CDB4-12D09EBC6F3F}"/>
              </a:ext>
            </a:extLst>
          </p:cNvPr>
          <p:cNvSpPr txBox="1"/>
          <p:nvPr/>
        </p:nvSpPr>
        <p:spPr>
          <a:xfrm>
            <a:off x="8128000" y="4356099"/>
            <a:ext cx="34290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Ordena necessidades e valida o resultado com a assistência.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47ADB53-C669-984D-8D0A-8893BFDEF045}"/>
              </a:ext>
            </a:extLst>
          </p:cNvPr>
          <p:cNvSpPr txBox="1"/>
          <p:nvPr/>
        </p:nvSpPr>
        <p:spPr>
          <a:xfrm>
            <a:off x="508000" y="57403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700">
                <a:solidFill>
                  <a:srgbClr val="4E5E69"/>
                </a:solidFill>
                <a:latin typeface="Arial" panose="020B0604020202020204" pitchFamily="34" charset="0"/>
              </a:rPr>
              <a:t>Revisão cruzada • capacidade conferida a cada Sprint • agenda do PO a combinar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74D0FE9-F829-C58F-FF81-1D1D267EE352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38C8C06-9846-B604-E274-DBA6AB76E3CC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Arthur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70A8D5C-E1A0-D787-0C74-84F55029C09A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73299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7647ED-361F-03DD-0A94-3CFE96214116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A7  Fluxo e critério de conclusão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16B859A-AB76-9EC3-5B64-A42AE7EB060C}"/>
              </a:ext>
            </a:extLst>
          </p:cNvPr>
          <p:cNvSpPr/>
          <p:nvPr/>
        </p:nvSpPr>
        <p:spPr>
          <a:xfrm>
            <a:off x="508000" y="1651000"/>
            <a:ext cx="2082800" cy="9144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Backlog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270F977-E812-FA69-EFB4-81F2F497F479}"/>
              </a:ext>
            </a:extLst>
          </p:cNvPr>
          <p:cNvCxnSpPr/>
          <p:nvPr/>
        </p:nvCxnSpPr>
        <p:spPr>
          <a:xfrm>
            <a:off x="2590800" y="2108200"/>
            <a:ext cx="1651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4B419449-C7A7-2A0A-E4B0-EEB682FECAA1}"/>
              </a:ext>
            </a:extLst>
          </p:cNvPr>
          <p:cNvSpPr/>
          <p:nvPr/>
        </p:nvSpPr>
        <p:spPr>
          <a:xfrm>
            <a:off x="2768600" y="1651000"/>
            <a:ext cx="2082800" cy="9144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Selecionada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7B1D8EC-10B0-AA73-272B-63FC5CBBAC70}"/>
              </a:ext>
            </a:extLst>
          </p:cNvPr>
          <p:cNvCxnSpPr/>
          <p:nvPr/>
        </p:nvCxnSpPr>
        <p:spPr>
          <a:xfrm>
            <a:off x="4851400" y="2108200"/>
            <a:ext cx="1651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C58F5D32-826A-0FE3-CCAC-9728A93A9710}"/>
              </a:ext>
            </a:extLst>
          </p:cNvPr>
          <p:cNvSpPr/>
          <p:nvPr/>
        </p:nvSpPr>
        <p:spPr>
          <a:xfrm>
            <a:off x="5029200" y="1651000"/>
            <a:ext cx="2082800" cy="9144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Desenvolver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1BEFEDC0-E8E3-FED1-B53F-377963B9B7E2}"/>
              </a:ext>
            </a:extLst>
          </p:cNvPr>
          <p:cNvCxnSpPr/>
          <p:nvPr/>
        </p:nvCxnSpPr>
        <p:spPr>
          <a:xfrm>
            <a:off x="7112000" y="2108200"/>
            <a:ext cx="1651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030E6902-4282-79F7-0C53-BB63B4A4BE1D}"/>
              </a:ext>
            </a:extLst>
          </p:cNvPr>
          <p:cNvSpPr/>
          <p:nvPr/>
        </p:nvSpPr>
        <p:spPr>
          <a:xfrm>
            <a:off x="7289800" y="1651000"/>
            <a:ext cx="2082800" cy="9144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Revisão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7D193BE-2B98-ED5B-063D-0EFB169E0131}"/>
              </a:ext>
            </a:extLst>
          </p:cNvPr>
          <p:cNvCxnSpPr/>
          <p:nvPr/>
        </p:nvCxnSpPr>
        <p:spPr>
          <a:xfrm>
            <a:off x="9372600" y="2108200"/>
            <a:ext cx="1651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FCF1F9-BFBF-D4CE-B95D-5AAD908D4728}"/>
              </a:ext>
            </a:extLst>
          </p:cNvPr>
          <p:cNvSpPr/>
          <p:nvPr/>
        </p:nvSpPr>
        <p:spPr>
          <a:xfrm>
            <a:off x="9550400" y="1651000"/>
            <a:ext cx="2082800" cy="9144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Verificação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9652434-1891-2FE0-0E0B-DEE6D03F54A5}"/>
              </a:ext>
            </a:extLst>
          </p:cNvPr>
          <p:cNvSpPr txBox="1"/>
          <p:nvPr/>
        </p:nvSpPr>
        <p:spPr>
          <a:xfrm>
            <a:off x="508000" y="2920999"/>
            <a:ext cx="52705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700" b="1">
                <a:solidFill>
                  <a:srgbClr val="006F6F"/>
                </a:solidFill>
                <a:latin typeface="Arial" panose="020B0604020202020204" pitchFamily="34" charset="0"/>
              </a:rPr>
              <a:t>Pronta tecnicamente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FFC9B21-350B-5F44-8D5F-8B2A936FB4BA}"/>
              </a:ext>
            </a:extLst>
          </p:cNvPr>
          <p:cNvSpPr txBox="1"/>
          <p:nvPr/>
        </p:nvSpPr>
        <p:spPr>
          <a:xfrm>
            <a:off x="508000" y="3568699"/>
            <a:ext cx="5270500" cy="196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300">
                <a:solidFill>
                  <a:srgbClr val="152A3B"/>
                </a:solidFill>
                <a:latin typeface="Arial" panose="020B0604020202020204" pitchFamily="34" charset="0"/>
              </a:rPr>
              <a:t>Critérios de aceitação atendidos
Revisão pelo colega e testes pertinentes
Integração, documentação e evidências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97AFD0C-F889-2BEC-601F-04A0E24AF223}"/>
              </a:ext>
            </a:extLst>
          </p:cNvPr>
          <p:cNvSpPr txBox="1"/>
          <p:nvPr/>
        </p:nvSpPr>
        <p:spPr>
          <a:xfrm>
            <a:off x="6540500" y="2920999"/>
            <a:ext cx="51435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700" b="1">
                <a:solidFill>
                  <a:srgbClr val="006F6F"/>
                </a:solidFill>
                <a:latin typeface="Arial" panose="020B0604020202020204" pitchFamily="34" charset="0"/>
              </a:rPr>
              <a:t>Validação de negócio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677454C-ABA3-47D4-5411-7228C8F096AA}"/>
              </a:ext>
            </a:extLst>
          </p:cNvPr>
          <p:cNvSpPr txBox="1"/>
          <p:nvPr/>
        </p:nvSpPr>
        <p:spPr>
          <a:xfrm>
            <a:off x="6540500" y="3568699"/>
            <a:ext cx="5143500" cy="196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300">
                <a:solidFill>
                  <a:srgbClr val="152A3B"/>
                </a:solidFill>
                <a:latin typeface="Arial" panose="020B0604020202020204" pitchFamily="34" charset="0"/>
              </a:rPr>
              <a:t>PO observa o fluxo pela interface
Falha → correção
Nova necessidade → backlog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3C0500B-035F-BED5-A140-8101EB4671EF}"/>
              </a:ext>
            </a:extLst>
          </p:cNvPr>
          <p:cNvSpPr txBox="1"/>
          <p:nvPr/>
        </p:nvSpPr>
        <p:spPr>
          <a:xfrm>
            <a:off x="508000" y="5727699"/>
            <a:ext cx="1117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700">
                <a:solidFill>
                  <a:srgbClr val="4E5E69"/>
                </a:solidFill>
                <a:latin typeface="Arial" panose="020B0604020202020204" pitchFamily="34" charset="0"/>
              </a:rPr>
              <a:t>A6 → DoD: revisar antes de concluir. Conclusão técnica e validação têm registros próprios.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315A3FAC-4E34-CBB0-6F4D-00B7F93644D3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816BEA7-4DEA-639A-A27D-0C11867078C1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Lucas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E0CF9B2-E0DD-606C-A195-5C8418DC9CDE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076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BD43B98-DC35-687E-6C88-18FC2AC1A08F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A8  Backlog e incrementos de valor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2CD2B0-BBF0-6B02-CA98-6653AE1C568E}"/>
              </a:ext>
            </a:extLst>
          </p:cNvPr>
          <p:cNvSpPr txBox="1"/>
          <p:nvPr/>
        </p:nvSpPr>
        <p:spPr>
          <a:xfrm>
            <a:off x="508000" y="1244599"/>
            <a:ext cx="5397500" cy="927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400" b="1">
                <a:solidFill>
                  <a:srgbClr val="006F6F"/>
                </a:solidFill>
                <a:latin typeface="Arial" panose="020B0604020202020204" pitchFamily="34" charset="0"/>
              </a:rPr>
              <a:t>I1  Receber e localizar
1 P + 3 M + 1 G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6495F71-3D83-0763-9998-CD79CE5181DB}"/>
              </a:ext>
            </a:extLst>
          </p:cNvPr>
          <p:cNvSpPr txBox="1"/>
          <p:nvPr/>
        </p:nvSpPr>
        <p:spPr>
          <a:xfrm>
            <a:off x="6286500" y="1244599"/>
            <a:ext cx="5397500" cy="927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400" b="1">
                <a:solidFill>
                  <a:srgbClr val="006F6F"/>
                </a:solidFill>
                <a:latin typeface="Arial" panose="020B0604020202020204" pitchFamily="34" charset="0"/>
              </a:rPr>
              <a:t>I2  Acompanhar e concluir
3 M + 1 G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8F9E7DE-4E06-C684-5FCE-AC8C8F737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261292"/>
              </p:ext>
            </p:extLst>
          </p:nvPr>
        </p:nvGraphicFramePr>
        <p:xfrm>
          <a:off x="508000" y="2235200"/>
          <a:ext cx="53975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900">
                  <a:extLst>
                    <a:ext uri="{9D8B030D-6E8A-4147-A177-3AD203B41FA5}">
                      <a16:colId xmlns:a16="http://schemas.microsoft.com/office/drawing/2014/main" val="379904844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48074127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205215637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A8R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Item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Tam.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62192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01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Acesso por perfil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4003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02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Cliente e equipamento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87465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03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Abrir OS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852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04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Consulta exata por nº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P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49565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05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Histórico inicial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545792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2A64E27-9FD3-5574-2A3C-281F1F78E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399502"/>
              </p:ext>
            </p:extLst>
          </p:nvPr>
        </p:nvGraphicFramePr>
        <p:xfrm>
          <a:off x="6286500" y="2235200"/>
          <a:ext cx="5397500" cy="273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900">
                  <a:extLst>
                    <a:ext uri="{9D8B030D-6E8A-4147-A177-3AD203B41FA5}">
                      <a16:colId xmlns:a16="http://schemas.microsoft.com/office/drawing/2014/main" val="2170239638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164076425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908735150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A8R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Item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Tam.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30647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06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Atribuir / iniciar / listar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778099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07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Concluir sem regressão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66758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08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Busca cliente/equipamento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843267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09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Comprovar desempenho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34298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257C50BE-AFC3-4AD5-72EB-6431EAB176EA}"/>
              </a:ext>
            </a:extLst>
          </p:cNvPr>
          <p:cNvSpPr txBox="1"/>
          <p:nvPr/>
        </p:nvSpPr>
        <p:spPr>
          <a:xfrm>
            <a:off x="6286500" y="5105399"/>
            <a:ext cx="53975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700">
                <a:solidFill>
                  <a:srgbClr val="4E5E69"/>
                </a:solidFill>
                <a:latin typeface="Arial" panose="020B0604020202020204" pitchFamily="34" charset="0"/>
              </a:rPr>
              <a:t>Histórico de R05 continua no I2.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FBF2CF1-8B53-9A1D-B349-967B80F4F24D}"/>
              </a:ext>
            </a:extLst>
          </p:cNvPr>
          <p:cNvSpPr txBox="1"/>
          <p:nvPr/>
        </p:nvSpPr>
        <p:spPr>
          <a:xfrm>
            <a:off x="508000" y="5727699"/>
            <a:ext cx="11176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600">
                <a:solidFill>
                  <a:srgbClr val="4E5E69"/>
                </a:solidFill>
                <a:latin typeface="Arial" panose="020B0604020202020204" pitchFamily="34" charset="0"/>
              </a:rPr>
              <a:t>R01–R08: Must • R09: Should, exigido antes da implantação • incremento pode ocupar várias Sprints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935D6C3-DF6B-C1DE-2B9E-FFFBDFB7715D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A036178-9D92-716E-9387-CF2524DB4C7D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Lucas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E64E2D-4860-D13C-85CE-5DDCFBAAC914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28337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93F2B7D-E138-3BA1-8060-B55F143A62F5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A8  Estimativas relativas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9D8D1E8-99BB-316C-BFC6-6C1BEDAFB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502554"/>
              </p:ext>
            </p:extLst>
          </p:nvPr>
        </p:nvGraphicFramePr>
        <p:xfrm>
          <a:off x="508000" y="1460500"/>
          <a:ext cx="111760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3729099167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1650585668"/>
                    </a:ext>
                  </a:extLst>
                </a:gridCol>
                <a:gridCol w="5270500">
                  <a:extLst>
                    <a:ext uri="{9D8B030D-6E8A-4147-A177-3AD203B41FA5}">
                      <a16:colId xmlns:a16="http://schemas.microsoft.com/office/drawing/2014/main" val="213843284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2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Escala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Referência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 que aumenta o tamanho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71413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21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P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1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A8R04 • consulta exata por nº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1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Fluxo limitado, menor incerteza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68258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21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1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A8R02 • cliente/equipamento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1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Campos, validações e relacionamentos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16349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21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1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A8R01 / R09 • acesso / desempenho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1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Incerteza e verificação transversal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828972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55162ECA-7BD4-8D60-4905-9758AE1173F2}"/>
              </a:ext>
            </a:extLst>
          </p:cNvPr>
          <p:cNvSpPr txBox="1"/>
          <p:nvPr/>
        </p:nvSpPr>
        <p:spPr>
          <a:xfrm>
            <a:off x="508000" y="5194299"/>
            <a:ext cx="11176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Inclui interface, regras, armazenamento e verificação; sem conversão fixa em horas.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7A2CCB-DFF9-160D-1DF5-9146711AF994}"/>
              </a:ext>
            </a:extLst>
          </p:cNvPr>
          <p:cNvSpPr txBox="1"/>
          <p:nvPr/>
        </p:nvSpPr>
        <p:spPr>
          <a:xfrm>
            <a:off x="508000" y="5765799"/>
            <a:ext cx="1117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b="1">
                <a:solidFill>
                  <a:srgbClr val="006F6F"/>
                </a:solidFill>
                <a:latin typeface="Arial" panose="020B0604020202020204" pitchFamily="34" charset="0"/>
              </a:rPr>
              <a:t>Estimativas propostas: cada integrante estima → discute diferenças → registra consenso.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0AADFE3-3D5F-3758-C606-1C246FF0DD45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689B90-EF32-BE0A-479D-46372BF72662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Lucas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55E3FE6-E919-D2FD-9AF1-83FA36EAE037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4118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E252DF7-A13B-124A-DAB0-24EBDF093DC5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A8  Riscos e mitigação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D97BA14C-BDE5-1BBE-6331-A0883B98C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095240"/>
              </p:ext>
            </p:extLst>
          </p:nvPr>
        </p:nvGraphicFramePr>
        <p:xfrm>
          <a:off x="508000" y="1358900"/>
          <a:ext cx="11176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0874985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42794199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819417166"/>
                    </a:ext>
                  </a:extLst>
                </a:gridCol>
                <a:gridCol w="5397500">
                  <a:extLst>
                    <a:ext uri="{9D8B030D-6E8A-4147-A177-3AD203B41FA5}">
                      <a16:colId xmlns:a16="http://schemas.microsoft.com/office/drawing/2014/main" val="138164175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Risco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 × I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Responsável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Mitigação prevista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82131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R1 • Escopo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3 × 3 = 9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Arthur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Manter vínculo A5 → backlog; controlar inclusões.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3352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R2 • Acesso indevido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3 × 3 = 9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Arthur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Autorizar no servidor; testar acesso direto à API.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10175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R3 • Perder histórico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2 × 3 = 6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Lucas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Gravar OS e evento na mesma transação.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55277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R4 • Desempenho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2 × 2 = 4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Lucas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Medir por fluxo com até 10.000 OS.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332541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B1BB4263-73BA-C5C5-C6E5-4DC7AE230AB2}"/>
              </a:ext>
            </a:extLst>
          </p:cNvPr>
          <p:cNvSpPr txBox="1"/>
          <p:nvPr/>
        </p:nvSpPr>
        <p:spPr>
          <a:xfrm>
            <a:off x="508000" y="57403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>
                <a:solidFill>
                  <a:srgbClr val="4E5E69"/>
                </a:solidFill>
                <a:latin typeface="Arial" panose="020B0604020202020204" pitchFamily="34" charset="0"/>
              </a:rPr>
              <a:t>P/I: 1 baixa, 2 média, 3 alta • produto: 1–2 baixo; 3–4 moderado; 6–9 alto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9C18CEA-03F4-F8DB-6FF1-B552E3BF94A2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A1644122-80C7-CDCC-30B8-A322695ED691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Lucas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CC8667C-0295-BFC6-CD8D-EC73BB29B817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5176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768D1D1-8B08-761E-8348-69AE8AEF5C9B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A9  Fluxograma da abertura de 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89A2EAE-457E-C452-1274-6EC17ED6EF0F}"/>
              </a:ext>
            </a:extLst>
          </p:cNvPr>
          <p:cNvSpPr txBox="1"/>
          <p:nvPr/>
        </p:nvSpPr>
        <p:spPr>
          <a:xfrm>
            <a:off x="508000" y="11683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>
                <a:solidFill>
                  <a:srgbClr val="4E5E69"/>
                </a:solidFill>
                <a:latin typeface="Arial" panose="020B0604020202020204" pitchFamily="34" charset="0"/>
              </a:rPr>
              <a:t>A8R02 + A8R03 • leitura resumida do modelo final da A9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FF1E95A-3BAE-B5AC-8EF3-DCF333DFAA7E}"/>
              </a:ext>
            </a:extLst>
          </p:cNvPr>
          <p:cNvSpPr/>
          <p:nvPr/>
        </p:nvSpPr>
        <p:spPr>
          <a:xfrm>
            <a:off x="508000" y="1739900"/>
            <a:ext cx="6540500" cy="7620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Identidade e permissão válidas?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CA75E3E-C4CB-D146-586A-3C69175A028F}"/>
              </a:ext>
            </a:extLst>
          </p:cNvPr>
          <p:cNvCxnSpPr/>
          <p:nvPr/>
        </p:nvCxnSpPr>
        <p:spPr>
          <a:xfrm>
            <a:off x="7048500" y="2120900"/>
            <a:ext cx="6096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4BFC31-E85A-2B11-7EDE-8F1E2C982CEC}"/>
              </a:ext>
            </a:extLst>
          </p:cNvPr>
          <p:cNvSpPr txBox="1"/>
          <p:nvPr/>
        </p:nvSpPr>
        <p:spPr>
          <a:xfrm>
            <a:off x="7823200" y="1828799"/>
            <a:ext cx="3860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Não → negar operação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1D86C4E-8AA6-DCFC-1B4A-565DA52104E4}"/>
              </a:ext>
            </a:extLst>
          </p:cNvPr>
          <p:cNvCxnSpPr/>
          <p:nvPr/>
        </p:nvCxnSpPr>
        <p:spPr>
          <a:xfrm>
            <a:off x="3746500" y="2501900"/>
            <a:ext cx="0" cy="25400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B50A55D5-A41F-D18F-049A-5051A197F6AA}"/>
              </a:ext>
            </a:extLst>
          </p:cNvPr>
          <p:cNvSpPr/>
          <p:nvPr/>
        </p:nvSpPr>
        <p:spPr>
          <a:xfrm>
            <a:off x="508000" y="2781300"/>
            <a:ext cx="6540500" cy="7620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Cliente/equipamento válidos e vinculados?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6711E80-CAB3-5BE2-4537-0EE2BD0E1BCC}"/>
              </a:ext>
            </a:extLst>
          </p:cNvPr>
          <p:cNvCxnSpPr/>
          <p:nvPr/>
        </p:nvCxnSpPr>
        <p:spPr>
          <a:xfrm>
            <a:off x="7048500" y="3162300"/>
            <a:ext cx="6096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35BBAD7-40CB-27A6-3391-88840CCA958D}"/>
              </a:ext>
            </a:extLst>
          </p:cNvPr>
          <p:cNvSpPr txBox="1"/>
          <p:nvPr/>
        </p:nvSpPr>
        <p:spPr>
          <a:xfrm>
            <a:off x="7823200" y="2870199"/>
            <a:ext cx="3860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Não → indicar campos e corrigir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E2B44E09-079D-1401-15B2-FB7BBC8D994B}"/>
              </a:ext>
            </a:extLst>
          </p:cNvPr>
          <p:cNvCxnSpPr/>
          <p:nvPr/>
        </p:nvCxnSpPr>
        <p:spPr>
          <a:xfrm>
            <a:off x="3746500" y="3543300"/>
            <a:ext cx="0" cy="25400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62BD3A29-AED2-3C01-9FB7-2F1C8F04338F}"/>
              </a:ext>
            </a:extLst>
          </p:cNvPr>
          <p:cNvSpPr/>
          <p:nvPr/>
        </p:nvSpPr>
        <p:spPr>
          <a:xfrm>
            <a:off x="508000" y="3822700"/>
            <a:ext cx="6540500" cy="7620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Confirmar → gravar OS + evento inicial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442D460-6BAD-DE3A-56B0-45C7359D968D}"/>
              </a:ext>
            </a:extLst>
          </p:cNvPr>
          <p:cNvCxnSpPr/>
          <p:nvPr/>
        </p:nvCxnSpPr>
        <p:spPr>
          <a:xfrm>
            <a:off x="7048500" y="4203700"/>
            <a:ext cx="6096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7694A14-47A7-3B10-C20C-DE42C24A499E}"/>
              </a:ext>
            </a:extLst>
          </p:cNvPr>
          <p:cNvSpPr txBox="1"/>
          <p:nvPr/>
        </p:nvSpPr>
        <p:spPr>
          <a:xfrm>
            <a:off x="7823200" y="3911599"/>
            <a:ext cx="3860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Uma única transação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6BAE885D-5A41-6601-92B9-713067A391CB}"/>
              </a:ext>
            </a:extLst>
          </p:cNvPr>
          <p:cNvCxnSpPr/>
          <p:nvPr/>
        </p:nvCxnSpPr>
        <p:spPr>
          <a:xfrm>
            <a:off x="3746500" y="4584700"/>
            <a:ext cx="0" cy="25400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7AE0B44E-20BF-805A-CB51-AABEF7A2BB93}"/>
              </a:ext>
            </a:extLst>
          </p:cNvPr>
          <p:cNvSpPr/>
          <p:nvPr/>
        </p:nvSpPr>
        <p:spPr>
          <a:xfrm>
            <a:off x="508000" y="4864100"/>
            <a:ext cx="6540500" cy="7620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Gravou? Exibir nº, data/hora e ABERTA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5074FD1-65FE-EBB0-310F-BFCAB45DC34C}"/>
              </a:ext>
            </a:extLst>
          </p:cNvPr>
          <p:cNvCxnSpPr/>
          <p:nvPr/>
        </p:nvCxnSpPr>
        <p:spPr>
          <a:xfrm>
            <a:off x="7048500" y="5245100"/>
            <a:ext cx="6096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BDF4231-5FE0-3CC4-A4FF-C23346458BE9}"/>
              </a:ext>
            </a:extLst>
          </p:cNvPr>
          <p:cNvSpPr txBox="1"/>
          <p:nvPr/>
        </p:nvSpPr>
        <p:spPr>
          <a:xfrm>
            <a:off x="7823200" y="4952999"/>
            <a:ext cx="3860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Falha → preservar formulário; reenvio sem duplicar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BC96166-D2AF-F483-984F-E2CF3923430F}"/>
              </a:ext>
            </a:extLst>
          </p:cNvPr>
          <p:cNvSpPr txBox="1"/>
          <p:nvPr/>
        </p:nvSpPr>
        <p:spPr>
          <a:xfrm>
            <a:off x="508000" y="6019799"/>
            <a:ext cx="1117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600" b="1">
                <a:solidFill>
                  <a:srgbClr val="006F6F"/>
                </a:solidFill>
                <a:latin typeface="Arial" panose="020B0604020202020204" pitchFamily="34" charset="0"/>
              </a:rPr>
              <a:t>Utilidade: explicitar sequência, decisões, caminhos de falha e pós-condições.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A684BA31-FF40-0254-3035-19C40A1FE030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13F748B-9973-4B66-F753-9F477A4E7E99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Arthur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4F70070-6B67-D9F7-39FB-FF5991EDDA47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0435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476CD63-84A0-BE14-B1F0-9009CF433635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A9  Wireframe da tela Nova 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708671-B2A9-D313-9F04-914282BDE861}"/>
              </a:ext>
            </a:extLst>
          </p:cNvPr>
          <p:cNvSpPr txBox="1"/>
          <p:nvPr/>
        </p:nvSpPr>
        <p:spPr>
          <a:xfrm>
            <a:off x="508000" y="1193799"/>
            <a:ext cx="1117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700">
                <a:solidFill>
                  <a:srgbClr val="4E5E69"/>
                </a:solidFill>
                <a:latin typeface="Arial" panose="020B0604020202020204" pitchFamily="34" charset="0"/>
              </a:rPr>
              <a:t>Wireframe • A8R02 cadastro / A8R03 abertura • estados alternativos de feedback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641D4A6-B4E1-0B6B-D9EB-C51C770EF73F}"/>
              </a:ext>
            </a:extLst>
          </p:cNvPr>
          <p:cNvSpPr/>
          <p:nvPr/>
        </p:nvSpPr>
        <p:spPr>
          <a:xfrm>
            <a:off x="508000" y="1714500"/>
            <a:ext cx="6883400" cy="408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endParaRPr lang="pt-BR" sz="2000">
              <a:solidFill>
                <a:srgbClr val="152A3B"/>
              </a:solidFill>
              <a:latin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8B767B-9670-B7BE-BA46-364AC7A03C07}"/>
              </a:ext>
            </a:extLst>
          </p:cNvPr>
          <p:cNvSpPr txBox="1"/>
          <p:nvPr/>
        </p:nvSpPr>
        <p:spPr>
          <a:xfrm>
            <a:off x="736600" y="1904999"/>
            <a:ext cx="62865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500" b="1">
                <a:solidFill>
                  <a:srgbClr val="152A3B"/>
                </a:solidFill>
                <a:latin typeface="Arial" panose="020B0604020202020204" pitchFamily="34" charset="0"/>
              </a:rPr>
              <a:t>Nova ordem de serviço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675740B-DA21-A14A-56BB-69CB204D81E6}"/>
              </a:ext>
            </a:extLst>
          </p:cNvPr>
          <p:cNvSpPr/>
          <p:nvPr/>
        </p:nvSpPr>
        <p:spPr>
          <a:xfrm>
            <a:off x="736600" y="2527300"/>
            <a:ext cx="6413500" cy="508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Cliente *                 Selecionar cliente  ▾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C9AA938-3BA3-EFD0-AECC-6E753894C7AE}"/>
              </a:ext>
            </a:extLst>
          </p:cNvPr>
          <p:cNvSpPr/>
          <p:nvPr/>
        </p:nvSpPr>
        <p:spPr>
          <a:xfrm>
            <a:off x="736600" y="3187700"/>
            <a:ext cx="6413500" cy="508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Equipamento *       Somente deste cliente  ▾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B4369B-0ECE-078C-EE1F-274AB000A9FE}"/>
              </a:ext>
            </a:extLst>
          </p:cNvPr>
          <p:cNvSpPr txBox="1"/>
          <p:nvPr/>
        </p:nvSpPr>
        <p:spPr>
          <a:xfrm>
            <a:off x="736600" y="3898899"/>
            <a:ext cx="63246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+ Cadastro rápido
Nome, telefone, tipo e defeito obrigatórios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C494BAD-A4A4-3D9A-8193-7605D779A5B0}"/>
              </a:ext>
            </a:extLst>
          </p:cNvPr>
          <p:cNvSpPr/>
          <p:nvPr/>
        </p:nvSpPr>
        <p:spPr>
          <a:xfrm>
            <a:off x="3530600" y="5029200"/>
            <a:ext cx="1562100" cy="508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>
                <a:solidFill>
                  <a:srgbClr val="152A3B"/>
                </a:solidFill>
                <a:latin typeface="Arial" panose="020B0604020202020204" pitchFamily="34" charset="0"/>
              </a:rPr>
              <a:t>Cancelar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B4A73AE-4D12-AFE5-5D31-2708B4EA4EBB}"/>
              </a:ext>
            </a:extLst>
          </p:cNvPr>
          <p:cNvSpPr/>
          <p:nvPr/>
        </p:nvSpPr>
        <p:spPr>
          <a:xfrm>
            <a:off x="5283200" y="5029200"/>
            <a:ext cx="1866900" cy="5080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1900">
                <a:solidFill>
                  <a:srgbClr val="152A3B"/>
                </a:solidFill>
                <a:latin typeface="Arial" panose="020B0604020202020204" pitchFamily="34" charset="0"/>
              </a:rPr>
              <a:t>Abrir 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F04A16B-3E14-D05A-65F9-6F8DFBF485A4}"/>
              </a:ext>
            </a:extLst>
          </p:cNvPr>
          <p:cNvSpPr txBox="1"/>
          <p:nvPr/>
        </p:nvSpPr>
        <p:spPr>
          <a:xfrm>
            <a:off x="7874000" y="1816099"/>
            <a:ext cx="3810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400" b="1">
                <a:solidFill>
                  <a:srgbClr val="006F6F"/>
                </a:solidFill>
                <a:latin typeface="Arial" panose="020B0604020202020204" pitchFamily="34" charset="0"/>
              </a:rPr>
              <a:t>Sucesso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13DA78E-4CD0-8834-5A35-DEBEA68B8749}"/>
              </a:ext>
            </a:extLst>
          </p:cNvPr>
          <p:cNvSpPr txBox="1"/>
          <p:nvPr/>
        </p:nvSpPr>
        <p:spPr>
          <a:xfrm>
            <a:off x="7874000" y="2387599"/>
            <a:ext cx="38100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300">
                <a:solidFill>
                  <a:srgbClr val="152A3B"/>
                </a:solidFill>
                <a:latin typeface="Arial" panose="020B0604020202020204" pitchFamily="34" charset="0"/>
              </a:rPr>
              <a:t>Número, data e ABERTA gerados pelo sistema.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B1014E2-2225-DDB5-C546-461B719B6518}"/>
              </a:ext>
            </a:extLst>
          </p:cNvPr>
          <p:cNvSpPr txBox="1"/>
          <p:nvPr/>
        </p:nvSpPr>
        <p:spPr>
          <a:xfrm>
            <a:off x="7874000" y="3555999"/>
            <a:ext cx="3810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400" b="1">
                <a:solidFill>
                  <a:srgbClr val="006F6F"/>
                </a:solidFill>
                <a:latin typeface="Arial" panose="020B0604020202020204" pitchFamily="34" charset="0"/>
              </a:rPr>
              <a:t>Erro ou falha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168973C-971E-81AD-AF5F-976061F24385}"/>
              </a:ext>
            </a:extLst>
          </p:cNvPr>
          <p:cNvSpPr txBox="1"/>
          <p:nvPr/>
        </p:nvSpPr>
        <p:spPr>
          <a:xfrm>
            <a:off x="7874000" y="4127499"/>
            <a:ext cx="3810000" cy="154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300">
                <a:solidFill>
                  <a:srgbClr val="152A3B"/>
                </a:solidFill>
                <a:latin typeface="Arial" panose="020B0604020202020204" pitchFamily="34" charset="0"/>
              </a:rPr>
              <a:t>Erro junto ao campo; manter dados; evitar reenvio duplicado.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0F59DEB-D313-7E1A-594E-05F2EAB40401}"/>
              </a:ext>
            </a:extLst>
          </p:cNvPr>
          <p:cNvSpPr txBox="1"/>
          <p:nvPr/>
        </p:nvSpPr>
        <p:spPr>
          <a:xfrm>
            <a:off x="508000" y="5968999"/>
            <a:ext cx="1117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600" b="1">
                <a:solidFill>
                  <a:srgbClr val="006F6F"/>
                </a:solidFill>
                <a:latin typeface="Arial" panose="020B0604020202020204" pitchFamily="34" charset="0"/>
              </a:rPr>
              <a:t>Utilidade: discutir campos e mensagens com o PO antes da implementação integrada.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2EFA7379-812E-2BA6-2FF5-F11303F9A184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D7F7B77-DF2F-1F8C-CF44-A78655A7AC95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Arthur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7433A20-1DB1-7B83-71C0-A9190E31ED1D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72408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AACE1E0-2B56-8757-6E0D-023E7EEBBAAE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A10  Arquitetura conceitual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8BB67D1-E61C-2E57-0775-22BC322E3F08}"/>
              </a:ext>
            </a:extLst>
          </p:cNvPr>
          <p:cNvSpPr/>
          <p:nvPr/>
        </p:nvSpPr>
        <p:spPr>
          <a:xfrm>
            <a:off x="508000" y="1549400"/>
            <a:ext cx="3048000" cy="11176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2200">
                <a:solidFill>
                  <a:srgbClr val="152A3B"/>
                </a:solidFill>
                <a:latin typeface="Arial" panose="020B0604020202020204" pitchFamily="34" charset="0"/>
              </a:rPr>
              <a:t>C1 • Interface
Atendente / técnico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50F98D8-B786-6D5C-5694-6DF1E543D28D}"/>
              </a:ext>
            </a:extLst>
          </p:cNvPr>
          <p:cNvSpPr/>
          <p:nvPr/>
        </p:nvSpPr>
        <p:spPr>
          <a:xfrm>
            <a:off x="4660900" y="1549400"/>
            <a:ext cx="3302000" cy="11176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2200">
                <a:solidFill>
                  <a:srgbClr val="152A3B"/>
                </a:solidFill>
                <a:latin typeface="Arial" panose="020B0604020202020204" pitchFamily="34" charset="0"/>
              </a:rPr>
              <a:t>C2 • API e regras
Cadastro, OS e consulta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1098E4C-8CEB-79EC-C63C-B492926E7BFA}"/>
              </a:ext>
            </a:extLst>
          </p:cNvPr>
          <p:cNvSpPr/>
          <p:nvPr/>
        </p:nvSpPr>
        <p:spPr>
          <a:xfrm>
            <a:off x="9144000" y="1549400"/>
            <a:ext cx="2540000" cy="11176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C3 • Acesso
Identidade / perfil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170CCB2-63C9-5646-D5EA-893E9270B7C1}"/>
              </a:ext>
            </a:extLst>
          </p:cNvPr>
          <p:cNvCxnSpPr/>
          <p:nvPr/>
        </p:nvCxnSpPr>
        <p:spPr>
          <a:xfrm>
            <a:off x="3556000" y="2108200"/>
            <a:ext cx="11049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786E01FD-98DF-8EDD-55A1-8679710DABE1}"/>
              </a:ext>
            </a:extLst>
          </p:cNvPr>
          <p:cNvCxnSpPr/>
          <p:nvPr/>
        </p:nvCxnSpPr>
        <p:spPr>
          <a:xfrm>
            <a:off x="7962900" y="2108200"/>
            <a:ext cx="11811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EE19F8-1804-6CFA-BEEE-8B2C077632D2}"/>
              </a:ext>
            </a:extLst>
          </p:cNvPr>
          <p:cNvSpPr txBox="1"/>
          <p:nvPr/>
        </p:nvSpPr>
        <p:spPr>
          <a:xfrm>
            <a:off x="3530600" y="1155699"/>
            <a:ext cx="1397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300">
                <a:solidFill>
                  <a:srgbClr val="4E5E69"/>
                </a:solidFill>
                <a:latin typeface="Arial" panose="020B0604020202020204" pitchFamily="34" charset="0"/>
              </a:rPr>
              <a:t>HTTP/JSON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29CC92C-13E8-0FD9-B30E-494CCE048FC0}"/>
              </a:ext>
            </a:extLst>
          </p:cNvPr>
          <p:cNvSpPr txBox="1"/>
          <p:nvPr/>
        </p:nvSpPr>
        <p:spPr>
          <a:xfrm>
            <a:off x="8204200" y="1155699"/>
            <a:ext cx="1054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300">
                <a:solidFill>
                  <a:srgbClr val="4E5E69"/>
                </a:solidFill>
                <a:latin typeface="Arial" panose="020B0604020202020204" pitchFamily="34" charset="0"/>
              </a:rPr>
              <a:t>Autorizar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622E7AC-6F08-1445-5CF6-5E480BFAEA01}"/>
              </a:ext>
            </a:extLst>
          </p:cNvPr>
          <p:cNvSpPr/>
          <p:nvPr/>
        </p:nvSpPr>
        <p:spPr>
          <a:xfrm>
            <a:off x="4648200" y="4038600"/>
            <a:ext cx="7035800" cy="1028700"/>
          </a:xfrm>
          <a:prstGeom prst="rect">
            <a:avLst/>
          </a:prstGeom>
          <a:solidFill>
            <a:srgbClr val="EAF4F4"/>
          </a:solidFill>
          <a:ln w="15240">
            <a:solidFill>
              <a:srgbClr val="006F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Ins="127000" bIns="101600" rtlCol="0" anchor="ctr"/>
          <a:lstStyle/>
          <a:p>
            <a:pPr algn="ctr"/>
            <a:r>
              <a:rPr lang="pt-BR" sz="2200">
                <a:solidFill>
                  <a:srgbClr val="152A3B"/>
                </a:solidFill>
                <a:latin typeface="Arial" panose="020B0604020202020204" pitchFamily="34" charset="0"/>
              </a:rPr>
              <a:t>C4 • Persistência
Clientes • equipamentos • OS • histórico • perfis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8DE5CBD-C65D-DACF-66DD-5C243C68EE25}"/>
              </a:ext>
            </a:extLst>
          </p:cNvPr>
          <p:cNvCxnSpPr/>
          <p:nvPr/>
        </p:nvCxnSpPr>
        <p:spPr>
          <a:xfrm>
            <a:off x="6286500" y="2667000"/>
            <a:ext cx="0" cy="135890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CEA223A-12E8-5C81-3CC2-CFE240DFCE36}"/>
              </a:ext>
            </a:extLst>
          </p:cNvPr>
          <p:cNvCxnSpPr/>
          <p:nvPr/>
        </p:nvCxnSpPr>
        <p:spPr>
          <a:xfrm>
            <a:off x="10426700" y="2667000"/>
            <a:ext cx="0" cy="135890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2A34D66-49F7-DF75-0422-2AB64527CD1E}"/>
              </a:ext>
            </a:extLst>
          </p:cNvPr>
          <p:cNvSpPr txBox="1"/>
          <p:nvPr/>
        </p:nvSpPr>
        <p:spPr>
          <a:xfrm>
            <a:off x="6426200" y="3047999"/>
            <a:ext cx="317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900" b="1">
                <a:solidFill>
                  <a:srgbClr val="006F6F"/>
                </a:solidFill>
                <a:latin typeface="Arial" panose="020B0604020202020204" pitchFamily="34" charset="0"/>
              </a:rPr>
              <a:t>OS + evento: mesma transação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3E5AF22-85EE-D33D-1759-7AB283C5DA93}"/>
              </a:ext>
            </a:extLst>
          </p:cNvPr>
          <p:cNvSpPr txBox="1"/>
          <p:nvPr/>
        </p:nvSpPr>
        <p:spPr>
          <a:xfrm>
            <a:off x="508000" y="3327399"/>
            <a:ext cx="3365500" cy="168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000">
                <a:solidFill>
                  <a:srgbClr val="152A3B"/>
                </a:solidFill>
                <a:latin typeface="Arial" panose="020B0604020202020204" pitchFamily="34" charset="0"/>
              </a:rPr>
              <a:t>Interface chama a API.
Permissão verificada no servidor.
Banco sem acesso direto da interface.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3E5FE63-F887-397B-C28A-DD346A7F6038}"/>
              </a:ext>
            </a:extLst>
          </p:cNvPr>
          <p:cNvSpPr txBox="1"/>
          <p:nvPr/>
        </p:nvSpPr>
        <p:spPr>
          <a:xfrm>
            <a:off x="508000" y="5549899"/>
            <a:ext cx="11176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000">
                <a:solidFill>
                  <a:srgbClr val="4E5E69"/>
                </a:solidFill>
                <a:latin typeface="Arial" panose="020B0604020202020204" pitchFamily="34" charset="0"/>
              </a:rPr>
              <a:t>Arquitetura proposta. C2/C3/C4 podem integrar a mesma aplicação; não exige microsserviços.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9B0082D3-F51D-20F8-624E-420F49849E02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CF8163E-FABC-DBF7-1DCC-4B65CA87FDC0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Lucas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A997C24-A492-E29C-0600-3A1B4621EC44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25781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092032-D343-4F74-C94C-8E74C53B4C21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A10  Caminho de um requisito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BA8145-7566-1EB0-2F70-42B068244C3D}"/>
              </a:ext>
            </a:extLst>
          </p:cNvPr>
          <p:cNvSpPr txBox="1"/>
          <p:nvPr/>
        </p:nvSpPr>
        <p:spPr>
          <a:xfrm>
            <a:off x="508000" y="1219199"/>
            <a:ext cx="11176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400" b="1">
                <a:solidFill>
                  <a:srgbClr val="006F6F"/>
                </a:solidFill>
                <a:latin typeface="Arial" panose="020B0604020202020204" pitchFamily="34" charset="0"/>
              </a:rPr>
              <a:t>Exemplo: criar e acompanhar uma ordem de serviço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4AD4D31-DA34-0642-CA4B-48D48120DF56}"/>
              </a:ext>
            </a:extLst>
          </p:cNvPr>
          <p:cNvSpPr txBox="1"/>
          <p:nvPr/>
        </p:nvSpPr>
        <p:spPr>
          <a:xfrm>
            <a:off x="508000" y="1917699"/>
            <a:ext cx="24765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200" b="1">
                <a:solidFill>
                  <a:srgbClr val="152A3B"/>
                </a:solidFill>
                <a:latin typeface="Arial" panose="020B0604020202020204" pitchFamily="34" charset="0"/>
              </a:rPr>
              <a:t>A3 • origem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98FC46-70F6-9DC5-4129-A791F5D526B4}"/>
              </a:ext>
            </a:extLst>
          </p:cNvPr>
          <p:cNvSpPr txBox="1"/>
          <p:nvPr/>
        </p:nvSpPr>
        <p:spPr>
          <a:xfrm>
            <a:off x="3429000" y="1917699"/>
            <a:ext cx="82550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§3 e §4.1, p. 2: RF03 (OS), RF04 (estado), RF05 (técnico).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81BCAC3-62E0-95EE-A503-EA9CA52818A5}"/>
              </a:ext>
            </a:extLst>
          </p:cNvPr>
          <p:cNvCxnSpPr/>
          <p:nvPr/>
        </p:nvCxnSpPr>
        <p:spPr>
          <a:xfrm>
            <a:off x="3098800" y="2146300"/>
            <a:ext cx="2413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EFF66C95-2682-6486-2DA4-2BCB0DC7B6FC}"/>
              </a:ext>
            </a:extLst>
          </p:cNvPr>
          <p:cNvSpPr txBox="1"/>
          <p:nvPr/>
        </p:nvSpPr>
        <p:spPr>
          <a:xfrm>
            <a:off x="508000" y="2705099"/>
            <a:ext cx="24765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200" b="1">
                <a:solidFill>
                  <a:srgbClr val="152A3B"/>
                </a:solidFill>
                <a:latin typeface="Arial" panose="020B0604020202020204" pitchFamily="34" charset="0"/>
              </a:rPr>
              <a:t>A4 / A5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D8AA0E9-51C1-AB68-45D3-7C1D5B63AE72}"/>
              </a:ext>
            </a:extLst>
          </p:cNvPr>
          <p:cNvSpPr txBox="1"/>
          <p:nvPr/>
        </p:nvSpPr>
        <p:spPr>
          <a:xfrm>
            <a:off x="3429000" y="2705099"/>
            <a:ext cx="82550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RE2 → RF2 + RN1; histórias HU1 (atendente) e HU2 (técnico).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08CF989-5DD4-F65F-FB76-DF9366AC798A}"/>
              </a:ext>
            </a:extLst>
          </p:cNvPr>
          <p:cNvCxnSpPr/>
          <p:nvPr/>
        </p:nvCxnSpPr>
        <p:spPr>
          <a:xfrm>
            <a:off x="3098800" y="2933700"/>
            <a:ext cx="2413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73D32B3-962A-AB4E-A63A-4B44F4C6921B}"/>
              </a:ext>
            </a:extLst>
          </p:cNvPr>
          <p:cNvSpPr txBox="1"/>
          <p:nvPr/>
        </p:nvSpPr>
        <p:spPr>
          <a:xfrm>
            <a:off x="508000" y="3492499"/>
            <a:ext cx="24765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200" b="1">
                <a:solidFill>
                  <a:srgbClr val="152A3B"/>
                </a:solidFill>
                <a:latin typeface="Arial" panose="020B0604020202020204" pitchFamily="34" charset="0"/>
              </a:rPr>
              <a:t>A8 • trabalho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E51F5F8-7E43-ADAF-ABDA-B9811622E4FF}"/>
              </a:ext>
            </a:extLst>
          </p:cNvPr>
          <p:cNvSpPr txBox="1"/>
          <p:nvPr/>
        </p:nvSpPr>
        <p:spPr>
          <a:xfrm>
            <a:off x="3429000" y="3492499"/>
            <a:ext cx="82550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A8R03 no I1 abre a OS; A8R06 e R07 no I2 iniciam/concluem.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5E4E4FA-3457-770F-DC02-666C20351269}"/>
              </a:ext>
            </a:extLst>
          </p:cNvPr>
          <p:cNvCxnSpPr/>
          <p:nvPr/>
        </p:nvCxnSpPr>
        <p:spPr>
          <a:xfrm>
            <a:off x="3098800" y="3721100"/>
            <a:ext cx="2413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2B4B58-6E4B-1637-6A88-A5558983EDBB}"/>
              </a:ext>
            </a:extLst>
          </p:cNvPr>
          <p:cNvSpPr txBox="1"/>
          <p:nvPr/>
        </p:nvSpPr>
        <p:spPr>
          <a:xfrm>
            <a:off x="508000" y="4279899"/>
            <a:ext cx="24765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200" b="1">
                <a:solidFill>
                  <a:srgbClr val="152A3B"/>
                </a:solidFill>
                <a:latin typeface="Arial" panose="020B0604020202020204" pitchFamily="34" charset="0"/>
              </a:rPr>
              <a:t>A9 • modelos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24FEEC8-38CA-845B-1B92-E49CE88538A1}"/>
              </a:ext>
            </a:extLst>
          </p:cNvPr>
          <p:cNvSpPr txBox="1"/>
          <p:nvPr/>
        </p:nvSpPr>
        <p:spPr>
          <a:xfrm>
            <a:off x="3429000" y="4279899"/>
            <a:ext cx="82550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§2.2 fluxograma + §2.3 Nova OS detalham cadastro e abertura.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BBF5BECB-FED7-8C89-B2FD-C3A15F500202}"/>
              </a:ext>
            </a:extLst>
          </p:cNvPr>
          <p:cNvCxnSpPr/>
          <p:nvPr/>
        </p:nvCxnSpPr>
        <p:spPr>
          <a:xfrm>
            <a:off x="3098800" y="4508500"/>
            <a:ext cx="241300" cy="0"/>
          </a:xfrm>
          <a:prstGeom prst="line">
            <a:avLst/>
          </a:prstGeom>
          <a:ln w="25400">
            <a:solidFill>
              <a:srgbClr val="006F6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F7CA3C8-D278-39A0-E67B-3C0C0A5DA988}"/>
              </a:ext>
            </a:extLst>
          </p:cNvPr>
          <p:cNvSpPr txBox="1"/>
          <p:nvPr/>
        </p:nvSpPr>
        <p:spPr>
          <a:xfrm>
            <a:off x="508000" y="5067299"/>
            <a:ext cx="24765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200" b="1">
                <a:solidFill>
                  <a:srgbClr val="152A3B"/>
                </a:solidFill>
                <a:latin typeface="Arial" panose="020B0604020202020204" pitchFamily="34" charset="0"/>
              </a:rPr>
              <a:t>A10 • destino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0958259-9372-8664-9EEB-573B0E892134}"/>
              </a:ext>
            </a:extLst>
          </p:cNvPr>
          <p:cNvSpPr txBox="1"/>
          <p:nvPr/>
        </p:nvSpPr>
        <p:spPr>
          <a:xfrm>
            <a:off x="3429000" y="5067299"/>
            <a:ext cx="82550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100">
                <a:solidFill>
                  <a:srgbClr val="152A3B"/>
                </a:solidFill>
                <a:latin typeface="Arial" panose="020B0604020202020204" pitchFamily="34" charset="0"/>
              </a:rPr>
              <a:t>C1 interage; C2 aplica regras; C3 autoriza; C4 grava OS e evento.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DED886F-8E5F-AFF0-44DD-3D77EC3FC3FD}"/>
              </a:ext>
            </a:extLst>
          </p:cNvPr>
          <p:cNvSpPr txBox="1"/>
          <p:nvPr/>
        </p:nvSpPr>
        <p:spPr>
          <a:xfrm>
            <a:off x="508000" y="5956299"/>
            <a:ext cx="11176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700">
                <a:solidFill>
                  <a:srgbClr val="4E5E69"/>
                </a:solidFill>
                <a:latin typeface="Arial" panose="020B0604020202020204" pitchFamily="34" charset="0"/>
              </a:rPr>
              <a:t>Origem: entrevista simulada com Marcos Almeida. RF03 da A3 ≠ RF3 da A4/A5.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B9A86DF6-FE54-4C7D-E295-C1F79BE50360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1A5EA1B-FA92-990D-BC7E-0D316A97312B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Arthur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020AF16-B256-95AB-F45B-2518E7904B8D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4256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046A6AD-14FB-AB66-C141-F2B6CCCE94C4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Situação atual e próximos passos na 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F46B25-2469-A286-72A0-C1CF3409244D}"/>
              </a:ext>
            </a:extLst>
          </p:cNvPr>
          <p:cNvSpPr txBox="1"/>
          <p:nvPr/>
        </p:nvSpPr>
        <p:spPr>
          <a:xfrm>
            <a:off x="508000" y="1422399"/>
            <a:ext cx="5207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800" b="1">
                <a:solidFill>
                  <a:srgbClr val="006F6F"/>
                </a:solidFill>
                <a:latin typeface="Arial" panose="020B0604020202020204" pitchFamily="34" charset="0"/>
              </a:rPr>
              <a:t>O que existe hoje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86E069-5A97-5704-3D17-4A13E58F9BF2}"/>
              </a:ext>
            </a:extLst>
          </p:cNvPr>
          <p:cNvSpPr txBox="1"/>
          <p:nvPr/>
        </p:nvSpPr>
        <p:spPr>
          <a:xfrm>
            <a:off x="508000" y="2197099"/>
            <a:ext cx="5207000" cy="179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500">
                <a:solidFill>
                  <a:srgbClr val="152A3B"/>
                </a:solidFill>
                <a:latin typeface="Arial" panose="020B0604020202020204" pitchFamily="34" charset="0"/>
              </a:rPr>
              <a:t>Interface demonstrável
Dados locais no navegador
Classes Java executam separadamente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9D3BC29-DE20-2EB7-5EDC-0FDF163EB5A6}"/>
              </a:ext>
            </a:extLst>
          </p:cNvPr>
          <p:cNvSpPr txBox="1"/>
          <p:nvPr/>
        </p:nvSpPr>
        <p:spPr>
          <a:xfrm>
            <a:off x="6477000" y="1422399"/>
            <a:ext cx="5207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800" b="1">
                <a:solidFill>
                  <a:srgbClr val="006F6F"/>
                </a:solidFill>
                <a:latin typeface="Arial" panose="020B0604020202020204" pitchFamily="34" charset="0"/>
              </a:rPr>
              <a:t>Evolução na 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100829-89AD-82C7-B53E-996F4ABA7B5D}"/>
              </a:ext>
            </a:extLst>
          </p:cNvPr>
          <p:cNvSpPr txBox="1"/>
          <p:nvPr/>
        </p:nvSpPr>
        <p:spPr>
          <a:xfrm>
            <a:off x="6477000" y="2197099"/>
            <a:ext cx="5207000" cy="232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400">
                <a:solidFill>
                  <a:srgbClr val="152A3B"/>
                </a:solidFill>
                <a:latin typeface="Arial" panose="020B0604020202020204" pitchFamily="34" charset="0"/>
              </a:rPr>
              <a:t>Integrar interface, API e banco
Autorizar no servidor
Testar regras, falhas e integração
Registrar evidências e revisar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7626BC4-C7F1-705E-D22E-FAF38BCA9EF0}"/>
              </a:ext>
            </a:extLst>
          </p:cNvPr>
          <p:cNvSpPr txBox="1"/>
          <p:nvPr/>
        </p:nvSpPr>
        <p:spPr>
          <a:xfrm>
            <a:off x="508000" y="4914899"/>
            <a:ext cx="111760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500" b="1">
                <a:solidFill>
                  <a:srgbClr val="152A3B"/>
                </a:solidFill>
                <a:latin typeface="Arial" panose="020B0604020202020204" pitchFamily="34" charset="0"/>
              </a:rPr>
              <a:t>RNF1: ≥95% das operações em até 2 s, com até 10.000 OS. Registrar ambiente e cenário; carga concorrente ainda a confirmar.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F1F51AD5-F2D4-4FA2-01D9-66768A0F63B0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A7CE5C81-77D1-BEE5-F875-347432A24D01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Lucas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DE08B0F-1899-6BA2-8DE6-BC2A8230AA09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75947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97C4DD-7C1F-CA0D-E3C9-D35080CED529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As quatro peças se conectam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1C5508-7D61-A229-6C4D-EAD689637798}"/>
              </a:ext>
            </a:extLst>
          </p:cNvPr>
          <p:cNvSpPr txBox="1"/>
          <p:nvPr/>
        </p:nvSpPr>
        <p:spPr>
          <a:xfrm>
            <a:off x="508000" y="1587499"/>
            <a:ext cx="3429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600" b="1">
                <a:solidFill>
                  <a:srgbClr val="006F6F"/>
                </a:solidFill>
                <a:latin typeface="Arial" panose="020B0604020202020204" pitchFamily="34" charset="0"/>
              </a:rPr>
              <a:t>A7 • Processo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73E674F-929C-6DA7-2A02-8F369FB58FB4}"/>
              </a:ext>
            </a:extLst>
          </p:cNvPr>
          <p:cNvSpPr txBox="1"/>
          <p:nvPr/>
        </p:nvSpPr>
        <p:spPr>
          <a:xfrm>
            <a:off x="4191000" y="1587499"/>
            <a:ext cx="7493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700">
                <a:solidFill>
                  <a:srgbClr val="152A3B"/>
                </a:solidFill>
                <a:latin typeface="Arial" panose="020B0604020202020204" pitchFamily="34" charset="0"/>
              </a:rPr>
              <a:t>Como trabalhar e verificar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51A58EA-117D-4252-1B4D-7F4E87AF4607}"/>
              </a:ext>
            </a:extLst>
          </p:cNvPr>
          <p:cNvSpPr txBox="1"/>
          <p:nvPr/>
        </p:nvSpPr>
        <p:spPr>
          <a:xfrm>
            <a:off x="508000" y="2412999"/>
            <a:ext cx="3429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600" b="1">
                <a:solidFill>
                  <a:srgbClr val="006F6F"/>
                </a:solidFill>
                <a:latin typeface="Arial" panose="020B0604020202020204" pitchFamily="34" charset="0"/>
              </a:rPr>
              <a:t>A8 • Planejamento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6788F7A-8B1C-5406-9B93-E7C56A676AE5}"/>
              </a:ext>
            </a:extLst>
          </p:cNvPr>
          <p:cNvSpPr txBox="1"/>
          <p:nvPr/>
        </p:nvSpPr>
        <p:spPr>
          <a:xfrm>
            <a:off x="4191000" y="2412999"/>
            <a:ext cx="7493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700">
                <a:solidFill>
                  <a:srgbClr val="152A3B"/>
                </a:solidFill>
                <a:latin typeface="Arial" panose="020B0604020202020204" pitchFamily="34" charset="0"/>
              </a:rPr>
              <a:t>O que entrega valor e em que ordem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6A60F7-71A4-60E8-CBAC-FF156C3C01F6}"/>
              </a:ext>
            </a:extLst>
          </p:cNvPr>
          <p:cNvSpPr txBox="1"/>
          <p:nvPr/>
        </p:nvSpPr>
        <p:spPr>
          <a:xfrm>
            <a:off x="508000" y="3238499"/>
            <a:ext cx="3429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600" b="1">
                <a:solidFill>
                  <a:srgbClr val="006F6F"/>
                </a:solidFill>
                <a:latin typeface="Arial" panose="020B0604020202020204" pitchFamily="34" charset="0"/>
              </a:rPr>
              <a:t>A9 • Modelos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E9B4B1-6C7B-3DF9-91E8-8AB4E06C323A}"/>
              </a:ext>
            </a:extLst>
          </p:cNvPr>
          <p:cNvSpPr txBox="1"/>
          <p:nvPr/>
        </p:nvSpPr>
        <p:spPr>
          <a:xfrm>
            <a:off x="4191000" y="3238499"/>
            <a:ext cx="7493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700">
                <a:solidFill>
                  <a:srgbClr val="152A3B"/>
                </a:solidFill>
                <a:latin typeface="Arial" panose="020B0604020202020204" pitchFamily="34" charset="0"/>
              </a:rPr>
              <a:t>Como o comportamento deve ocorrer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434BF9-1668-4831-53DD-4E5A78B7AD76}"/>
              </a:ext>
            </a:extLst>
          </p:cNvPr>
          <p:cNvSpPr txBox="1"/>
          <p:nvPr/>
        </p:nvSpPr>
        <p:spPr>
          <a:xfrm>
            <a:off x="508000" y="4063999"/>
            <a:ext cx="3429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600" b="1">
                <a:solidFill>
                  <a:srgbClr val="006F6F"/>
                </a:solidFill>
                <a:latin typeface="Arial" panose="020B0604020202020204" pitchFamily="34" charset="0"/>
              </a:rPr>
              <a:t>A10 • Arquitetura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E824D44-AE36-6096-F7B5-BE26954D9A45}"/>
              </a:ext>
            </a:extLst>
          </p:cNvPr>
          <p:cNvSpPr txBox="1"/>
          <p:nvPr/>
        </p:nvSpPr>
        <p:spPr>
          <a:xfrm>
            <a:off x="4191000" y="4063999"/>
            <a:ext cx="7493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700">
                <a:solidFill>
                  <a:srgbClr val="152A3B"/>
                </a:solidFill>
                <a:latin typeface="Arial" panose="020B0604020202020204" pitchFamily="34" charset="0"/>
              </a:rPr>
              <a:t>Qual componente atende ao requisito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14F4CAA-F307-AB67-65A7-96A44E1586FB}"/>
              </a:ext>
            </a:extLst>
          </p:cNvPr>
          <p:cNvSpPr txBox="1"/>
          <p:nvPr/>
        </p:nvSpPr>
        <p:spPr>
          <a:xfrm>
            <a:off x="508000" y="5346699"/>
            <a:ext cx="111760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700" b="1">
                <a:solidFill>
                  <a:srgbClr val="152A3B"/>
                </a:solidFill>
                <a:latin typeface="Arial" panose="020B0604020202020204" pitchFamily="34" charset="0"/>
              </a:rPr>
              <a:t>AS → critérios transformados em evidências de qualidade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C917EFE-7266-4C76-2CD1-5128613D068E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4F73B79-8B5E-1AA0-0415-93A56CE25C12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Arthur e Lucas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DAD93AC-5D87-C332-444E-98F570BEBC77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34376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5C674D-9A7F-90FF-193D-434924871957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Apoio  Matriz resumida de rastreabilidade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BFA1389-FD1C-86D9-5FB0-96448A1FF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66089"/>
              </p:ext>
            </p:extLst>
          </p:nvPr>
        </p:nvGraphicFramePr>
        <p:xfrm>
          <a:off x="508000" y="1346200"/>
          <a:ext cx="11176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948702599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671249357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86484594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46442686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pt-BR" sz="1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Req.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A8 • itens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Modelo / decisão verificável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Componentes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71526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RF1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R02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A9 §2.2 / §2.3 cadastro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C1, C2, C4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36073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RF2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R03 / R06 / R07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A9 abertura; A10 §2.3 ciclo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C1, C2, C3, C4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449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RF3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R04 / R05 / R08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A10 §2.6 consulta e histórico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C1, C2, C4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96811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RN1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R03 / R06 / R07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A10 §2.3 estados sem regressão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C2, C4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52201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RNF1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R09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A8 §2.4 / A10 §2.6 medição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C1, C2, C4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6099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RNF2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R01 (todos)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A9 autorização / A10 §2.2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C2, C3, C4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70702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HU1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R02–R05 / R08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A9 atendimento / A10 consulta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C1–C4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9523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HU2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R05–R07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A10 técnico; tela a detalhar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C1–C4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263649"/>
                  </a:ext>
                </a:extLst>
              </a:tr>
            </a:tbl>
          </a:graphicData>
        </a:graphic>
      </p:graphicFrame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7F1BD1D-73DD-6BE6-BFBE-F543C027E436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F4BD6C18-EE99-6D71-2644-96DAE1E6EE47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Ambos, somente se houver pergunta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F5D94A-2742-0DA4-7B97-4FB04FC155DD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24871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88B94F-B445-B104-DE80-FB7FD52B1D1A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Apoio  Critérios verificáveis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86819DB-9130-9D79-20F7-069BE8107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549787"/>
              </p:ext>
            </p:extLst>
          </p:nvPr>
        </p:nvGraphicFramePr>
        <p:xfrm>
          <a:off x="508000" y="1447800"/>
          <a:ext cx="111760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4055029852"/>
                    </a:ext>
                  </a:extLst>
                </a:gridCol>
                <a:gridCol w="7874000">
                  <a:extLst>
                    <a:ext uri="{9D8B030D-6E8A-4147-A177-3AD203B41FA5}">
                      <a16:colId xmlns:a16="http://schemas.microsoft.com/office/drawing/2014/main" val="43162827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pt-BR" sz="2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Cenário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Resultado esperado</a:t>
                      </a:r>
                    </a:p>
                  </a:txBody>
                  <a:tcPr marL="101600" marR="101600" marT="63500" marB="63500" anchor="ctr">
                    <a:solidFill>
                      <a:srgbClr val="15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78884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Abrir OS válida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Número único + data + ABERTA + evento inicial.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019049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Falhar ao gravar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Desfazer OS e evento; preservar o formulário.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96343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Concluir OS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Impedir regressão de estado após CONCLUÍDA.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29003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Chamar API sem permissão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Negar mesmo sem passar pela interface.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80027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Executar operações principais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152A3B"/>
                          </a:solidFill>
                          <a:latin typeface="Arial" panose="020B0604020202020204" pitchFamily="34" charset="0"/>
                        </a:rPr>
                        <a:t>≥95% em até 2 s, com até 10.000 OS.</a:t>
                      </a:r>
                    </a:p>
                  </a:txBody>
                  <a:tcPr marL="101600" marR="101600" marT="63500" marB="63500"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583214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774045BB-8ABB-5981-A2BD-2DD88484EFBA}"/>
              </a:ext>
            </a:extLst>
          </p:cNvPr>
          <p:cNvSpPr txBox="1"/>
          <p:nvPr/>
        </p:nvSpPr>
        <p:spPr>
          <a:xfrm>
            <a:off x="508000" y="59054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>
                <a:solidFill>
                  <a:srgbClr val="4E5E69"/>
                </a:solidFill>
                <a:latin typeface="Arial" panose="020B0604020202020204" pitchFamily="34" charset="0"/>
              </a:rPr>
              <a:t>Critérios planejados. Não representam resultados de testes da integração proposta.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F57DF9-297D-602F-78B5-8C579C9380B9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5705BA-F55D-0DE8-D137-3AC48E3E62F9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Ambos, somente se houver pergunta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5E3458-E5B3-6826-C756-36D8C6B2FE38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24706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1B778D9-2C94-25CF-70D1-1D64AE3D7410}"/>
              </a:ext>
            </a:extLst>
          </p:cNvPr>
          <p:cNvSpPr txBox="1"/>
          <p:nvPr/>
        </p:nvSpPr>
        <p:spPr>
          <a:xfrm>
            <a:off x="508000" y="355599"/>
            <a:ext cx="11176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3200" b="1">
                <a:solidFill>
                  <a:srgbClr val="152A3B"/>
                </a:solidFill>
                <a:latin typeface="Arial" panose="020B0604020202020204" pitchFamily="34" charset="0"/>
              </a:rPr>
              <a:t>Apoio  Fontes e pontos de conferência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727072-47EF-9416-47BC-0F517F66A49C}"/>
              </a:ext>
            </a:extLst>
          </p:cNvPr>
          <p:cNvSpPr txBox="1"/>
          <p:nvPr/>
        </p:nvSpPr>
        <p:spPr>
          <a:xfrm>
            <a:off x="508000" y="1358899"/>
            <a:ext cx="111760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500" b="1">
                <a:solidFill>
                  <a:srgbClr val="152A3B"/>
                </a:solidFill>
                <a:latin typeface="Arial" panose="020B0604020202020204" pitchFamily="34" charset="0"/>
              </a:rPr>
              <a:t>Fontes: A2, A3 simulada, A4, critérios da A5, A6, A7, A8 revisada, modelos locais da A9 e A10.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40B026-0DAF-F889-4C4F-E6942574A93B}"/>
              </a:ext>
            </a:extLst>
          </p:cNvPr>
          <p:cNvSpPr txBox="1"/>
          <p:nvPr/>
        </p:nvSpPr>
        <p:spPr>
          <a:xfrm>
            <a:off x="508000" y="2654299"/>
            <a:ext cx="11176000" cy="215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2400">
                <a:solidFill>
                  <a:srgbClr val="152A3B"/>
                </a:solidFill>
                <a:latin typeface="Arial" panose="020B0604020202020204" pitchFamily="34" charset="0"/>
              </a:rPr>
              <a:t>Conferir antes da entrega:
• Consenso das estimativas e disponibilidade do PO.
• Versão da A5 avaliada × cópia local.
• Correspondência dos modelos locais com a A9 enviada.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386C3F-D6C2-11E1-A5E6-166D277CE5AE}"/>
              </a:ext>
            </a:extLst>
          </p:cNvPr>
          <p:cNvSpPr txBox="1"/>
          <p:nvPr/>
        </p:nvSpPr>
        <p:spPr>
          <a:xfrm>
            <a:off x="508000" y="5283199"/>
            <a:ext cx="11176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>
                <a:solidFill>
                  <a:srgbClr val="4E5E69"/>
                </a:solidFill>
                <a:latin typeface="Arial" panose="020B0604020202020204" pitchFamily="34" charset="0"/>
              </a:rPr>
              <a:t>A1 fora desta revisão por orientação da equipe. Apoio de IA declarado na ficha e no DEVLOG; revisão e domínio do conteúdo cabem à dupla.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1A62F73-5FBA-B155-64B1-74C0245FB0F7}"/>
              </a:ext>
            </a:extLst>
          </p:cNvPr>
          <p:cNvCxnSpPr/>
          <p:nvPr/>
        </p:nvCxnSpPr>
        <p:spPr>
          <a:xfrm>
            <a:off x="508000" y="6337300"/>
            <a:ext cx="11176000" cy="0"/>
          </a:xfrm>
          <a:prstGeom prst="line">
            <a:avLst/>
          </a:prstGeom>
          <a:ln>
            <a:solidFill>
              <a:srgbClr val="CD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C0F2F8-5EBD-ACDA-F349-5913752B8CF1}"/>
              </a:ext>
            </a:extLst>
          </p:cNvPr>
          <p:cNvSpPr txBox="1"/>
          <p:nvPr/>
        </p:nvSpPr>
        <p:spPr>
          <a:xfrm>
            <a:off x="508000" y="64643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000">
                <a:solidFill>
                  <a:srgbClr val="4E5E69"/>
                </a:solidFill>
                <a:latin typeface="Arial" panose="020B0604020202020204" pitchFamily="34" charset="0"/>
              </a:rPr>
              <a:t>TECHFIX  /  PROCESSOS DE ENGENHARIA DE SOFTWARE  /  Ambos, somente se houver pergunta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17BFE03-D3D4-D0FA-2C6E-4127FB701065}"/>
              </a:ext>
            </a:extLst>
          </p:cNvPr>
          <p:cNvSpPr txBox="1"/>
          <p:nvPr/>
        </p:nvSpPr>
        <p:spPr>
          <a:xfrm>
            <a:off x="10985500" y="6413499"/>
            <a:ext cx="698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pt-BR" sz="1400" b="1">
                <a:solidFill>
                  <a:srgbClr val="006F6F"/>
                </a:solidFill>
                <a:latin typeface="Arial" panose="020B06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283860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3677</Words>
  <Application>Microsoft Office PowerPoint</Application>
  <PresentationFormat>Personalizar</PresentationFormat>
  <Paragraphs>349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Avila Scharfenberger</dc:creator>
  <cp:lastModifiedBy>Arthur Avila Scharfenberger</cp:lastModifiedBy>
  <cp:revision>1</cp:revision>
  <dcterms:created xsi:type="dcterms:W3CDTF">2026-10-07T17:15:44Z</dcterms:created>
  <dcterms:modified xsi:type="dcterms:W3CDTF">2026-10-07T17:15:44Z</dcterms:modified>
</cp:coreProperties>
</file>