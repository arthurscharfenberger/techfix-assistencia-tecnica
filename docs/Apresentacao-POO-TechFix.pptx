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Heebo"/>
      <p:regular r:id="rId15"/>
      <p:bold r:id="rId16"/>
    </p:embeddedFont>
    <p:embeddedFont>
      <p:font typeface="Crimson Pro Light"/>
      <p:regular r:id="rId17"/>
      <p:bold r:id="rId18"/>
      <p:italic r:id="rId19"/>
      <p:boldItalic r:id="rId20"/>
    </p:embeddedFont>
    <p:embeddedFont>
      <p:font typeface="Crimson Pro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imsonProLight-boldItalic.fntdata"/><Relationship Id="rId11" Type="http://schemas.openxmlformats.org/officeDocument/2006/relationships/slide" Target="slides/slide7.xml"/><Relationship Id="rId22" Type="http://schemas.openxmlformats.org/officeDocument/2006/relationships/font" Target="fonts/CrimsonProSemiBold-bold.fntdata"/><Relationship Id="rId10" Type="http://schemas.openxmlformats.org/officeDocument/2006/relationships/slide" Target="slides/slide6.xml"/><Relationship Id="rId21" Type="http://schemas.openxmlformats.org/officeDocument/2006/relationships/font" Target="fonts/CrimsonProSemiBold-regular.fntdata"/><Relationship Id="rId13" Type="http://schemas.openxmlformats.org/officeDocument/2006/relationships/slide" Target="slides/slide9.xml"/><Relationship Id="rId24" Type="http://schemas.openxmlformats.org/officeDocument/2006/relationships/font" Target="fonts/CrimsonProSemiBold-boldItalic.fntdata"/><Relationship Id="rId12" Type="http://schemas.openxmlformats.org/officeDocument/2006/relationships/slide" Target="slides/slide8.xml"/><Relationship Id="rId23" Type="http://schemas.openxmlformats.org/officeDocument/2006/relationships/font" Target="fonts/CrimsonPro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ebo-regular.fntdata"/><Relationship Id="rId14" Type="http://schemas.openxmlformats.org/officeDocument/2006/relationships/slide" Target="slides/slide10.xml"/><Relationship Id="rId17" Type="http://schemas.openxmlformats.org/officeDocument/2006/relationships/font" Target="fonts/CrimsonProLight-regular.fntdata"/><Relationship Id="rId16" Type="http://schemas.openxmlformats.org/officeDocument/2006/relationships/font" Target="fonts/Heebo-bold.fntdata"/><Relationship Id="rId5" Type="http://schemas.openxmlformats.org/officeDocument/2006/relationships/slide" Target="slides/slide1.xml"/><Relationship Id="rId19" Type="http://schemas.openxmlformats.org/officeDocument/2006/relationships/font" Target="fonts/CrimsonProLight-italic.fntdata"/><Relationship Id="rId6" Type="http://schemas.openxmlformats.org/officeDocument/2006/relationships/slide" Target="slides/slide2.xml"/><Relationship Id="rId18" Type="http://schemas.openxmlformats.org/officeDocument/2006/relationships/font" Target="fonts/CrimsonPro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1.jp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1.jp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10" Type="http://schemas.openxmlformats.org/officeDocument/2006/relationships/image" Target="../media/image22.gif"/><Relationship Id="rId9" Type="http://schemas.openxmlformats.org/officeDocument/2006/relationships/image" Target="../media/image11.jp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3925119" y="130395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TechFix — Sistema de Assistência Técnica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3925119" y="2246635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150FE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2150FE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AP2 — Evolução do Projeto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2680692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Arthur Scharfenberger · Lucas Oliveira da Silva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ULBRA — ADS — 2026/2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137720" y="3453259"/>
            <a:ext cx="49673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"Manutenção de notebooks e PCs com os conceitos de POO."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19" y="3293790"/>
            <a:ext cx="19050" cy="545753"/>
          </a:xfrm>
          <a:prstGeom prst="roundRect">
            <a:avLst>
              <a:gd fmla="val 50000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" name="Google Shape;25;p4" title="119d2c96b9cb987c7f6b6b8d924c686e.jpg"/>
          <p:cNvPicPr preferRelativeResize="0"/>
          <p:nvPr/>
        </p:nvPicPr>
        <p:blipFill rotWithShape="1">
          <a:blip r:embed="rId4">
            <a:alphaModFix/>
          </a:blip>
          <a:srcRect b="-2135" l="0" r="1710" t="0"/>
          <a:stretch/>
        </p:blipFill>
        <p:spPr>
          <a:xfrm>
            <a:off x="0" y="0"/>
            <a:ext cx="3429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 title="647613596fb74e948e0ea84f8ecf392f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 onde partimos?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</a:t>
            </a:r>
            <a:r>
              <a:rPr b="1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AP1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forneceu a estrutura inicial do TechFix para manutenção de notebooks e PCs. Quatro classes principais formavam a base antes dos incrementos das Atividades 6 a 9.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60227"/>
            <a:ext cx="3989412" cy="3989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822" y="1519925"/>
            <a:ext cx="2832606" cy="5615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4194563" y="1635075"/>
            <a:ext cx="2547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31"/>
              <a:buFont typeface="Crimson Pro SemiBold"/>
              <a:buNone/>
            </a:pPr>
            <a:r>
              <a:rPr b="0" i="0" lang="en-US" sz="931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Cliente</a:t>
            </a:r>
            <a:endParaRPr b="0" i="0" sz="9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194563" y="1844479"/>
            <a:ext cx="25476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88"/>
              <a:buFont typeface="Heebo"/>
              <a:buNone/>
            </a:pPr>
            <a:r>
              <a:rPr b="0" i="0" lang="en-US" sz="788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Entidade central que solicita os serviços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8177" y="1519925"/>
            <a:ext cx="2110174" cy="5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7077922" y="1635075"/>
            <a:ext cx="2547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31"/>
              <a:buFont typeface="Crimson Pro SemiBold"/>
              <a:buNone/>
            </a:pPr>
            <a:r>
              <a:rPr b="0" i="0" lang="en-US" sz="931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Ordem de Serviço</a:t>
            </a:r>
            <a:endParaRPr b="0" i="0" sz="9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077922" y="1844479"/>
            <a:ext cx="25479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88"/>
              <a:buFont typeface="Heebo"/>
              <a:buNone/>
            </a:pPr>
            <a:r>
              <a:rPr b="0" i="0" lang="en-US" sz="788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Registro do atendimento e de seu status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822" y="2132250"/>
            <a:ext cx="2832606" cy="561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4194563" y="2247401"/>
            <a:ext cx="2547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31"/>
              <a:buFont typeface="Crimson Pro SemiBold"/>
              <a:buNone/>
            </a:pPr>
            <a:r>
              <a:rPr b="0" i="0" lang="en-US" sz="931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Técnico</a:t>
            </a:r>
            <a:endParaRPr b="0" i="0" sz="9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194563" y="2456805"/>
            <a:ext cx="25476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88"/>
              <a:buFont typeface="Heebo"/>
              <a:buNone/>
            </a:pPr>
            <a:r>
              <a:rPr b="0" i="0" lang="en-US" sz="788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Responsável pela execução do serviço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8177" y="2132250"/>
            <a:ext cx="2110174" cy="5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7077922" y="2247401"/>
            <a:ext cx="2547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31"/>
              <a:buFont typeface="Crimson Pro SemiBold"/>
              <a:buNone/>
            </a:pPr>
            <a:r>
              <a:rPr b="0" i="0" lang="en-US" sz="931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Equipamento</a:t>
            </a:r>
            <a:endParaRPr b="0" i="0" sz="9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077922" y="2456805"/>
            <a:ext cx="25479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88"/>
              <a:buFont typeface="Heebo"/>
              <a:buNone/>
            </a:pPr>
            <a:r>
              <a:rPr b="0" i="0" lang="en-US" sz="788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Notebook ou PC que recebe o atendimento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5" title="647613596fb74e948e0ea84f8ecf392f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496119" y="701576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Como o projeto foi evoluindo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96119" y="1414686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Cada atividade partiu do que já existia e acrescentou uma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nova necessidade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ao projeto.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96119" y="3128144"/>
            <a:ext cx="8151763" cy="19050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587847" y="2702868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437903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491072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37840" y="180096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AP1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37877" y="2107481"/>
            <a:ext cx="191899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Estrutura inicial do domínio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2777654" y="3128144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2627709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2680878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827647" y="369517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827684" y="4001691"/>
            <a:ext cx="191899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Coleções — múltiplas ordens por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967535" y="2702868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817590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870759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017527" y="180096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017565" y="2107481"/>
            <a:ext cx="191899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Composição — todo e partes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157341" y="3128144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5007397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060566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207334" y="369517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207371" y="4001691"/>
            <a:ext cx="191899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Herança — Notebook e Desktop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347222" y="2702868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197278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6250446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397215" y="180096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397252" y="2107481"/>
            <a:ext cx="191899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Interface e polimorfismo — roteiros por equipamento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537028" y="3128144"/>
            <a:ext cx="19050" cy="425276"/>
          </a:xfrm>
          <a:prstGeom prst="roundRect">
            <a:avLst>
              <a:gd fmla="val 5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387084" y="296867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440253" y="299524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587021" y="3695179"/>
            <a:ext cx="19189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AP2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587058" y="4001691"/>
            <a:ext cx="191899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Integração e validação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 title="647613596fb74e948e0ea84f8ecf392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496119" y="443285"/>
            <a:ext cx="8151763" cy="2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0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Atividade 6 — Precisávamos representar vários atendimentos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96119" y="872356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 Problema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96119" y="1072381"/>
            <a:ext cx="3965153" cy="238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Um mesmo </a:t>
            </a:r>
            <a:r>
              <a:rPr b="1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Cliente</a:t>
            </a: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pode possuir várias Ordens de Serviço. Precisávamos de uma estrutura que suportasse essa multiplicidade.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87491" y="872356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 Solução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87491" y="1072381"/>
            <a:ext cx="3965153" cy="69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Usamos </a:t>
            </a:r>
            <a:r>
              <a:rPr b="0" i="0" lang="en-US" sz="70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para representar várias ordens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Usamos </a:t>
            </a:r>
            <a:r>
              <a:rPr b="0" i="0" lang="en-US" sz="70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como implementação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Coleção inicializada diretamente no atributo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Adicionamos validação contra </a:t>
            </a:r>
            <a:r>
              <a:rPr b="0" i="0" lang="en-US" sz="70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Criamos teste para essa regra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96119" y="1849338"/>
            <a:ext cx="8151763" cy="715789"/>
          </a:xfrm>
          <a:prstGeom prst="roundRect">
            <a:avLst>
              <a:gd fmla="val 19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86904" y="1940123"/>
            <a:ext cx="797019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Cliente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86904" y="2116931"/>
            <a:ext cx="7970193" cy="357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├── OS 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├── OS 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└── OS 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96119" y="2652340"/>
            <a:ext cx="815176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Código implementado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96119" y="2881461"/>
            <a:ext cx="8151763" cy="1634133"/>
          </a:xfrm>
          <a:prstGeom prst="roundRect">
            <a:avLst>
              <a:gd fmla="val 83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605061" y="2972246"/>
            <a:ext cx="7933879" cy="145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private final List&lt;OrdemServico&gt; ordensServico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= new ArrayList&lt;&gt;();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public void adicionarOrdemServico(OrdemServico os)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if (os == null)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throw new IllegalArgumentException(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"Ordem de serviço não pode ser nula");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ordensServico.add(os);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96119" y="4581004"/>
            <a:ext cx="86089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1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Resultado:</a:t>
            </a: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 coleção reúne ordens do cliente; a rejeição de uma ordem nula foi verificada por teste.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7" title="647613596fb74e948e0ea84f8ecf392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975" y="3682975"/>
            <a:ext cx="1016624" cy="112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400"/>
              <a:buFont typeface="Crimson Pro SemiBold"/>
              <a:buNone/>
            </a:pPr>
            <a:r>
              <a:rPr b="0" i="0" lang="en-US" sz="14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Atividade 7 — Modelando o todo e suas partes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20849"/>
            <a:ext cx="3986733" cy="3986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/>
          <p:nvPr/>
        </p:nvSpPr>
        <p:spPr>
          <a:xfrm>
            <a:off x="4569425" y="806773"/>
            <a:ext cx="3986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700"/>
              <a:buFont typeface="Crimson Pro SemiBold"/>
              <a:buNone/>
            </a:pPr>
            <a:r>
              <a:rPr b="0" i="0" lang="en-US" sz="10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 Decisão de Modelagem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69425" y="1176060"/>
            <a:ext cx="3986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proposta foi modelar uma </a:t>
            </a:r>
            <a:r>
              <a:rPr b="1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composição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a </a:t>
            </a:r>
            <a:r>
              <a:rPr b="0" i="0" lang="en-US" sz="8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OrdemServico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representa o todo e controla a criação dos </a:t>
            </a:r>
            <a:r>
              <a:rPr b="0" i="0" lang="en-US" sz="8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ItemServico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que representam as partes.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569425" y="1721216"/>
            <a:ext cx="3986700" cy="468600"/>
          </a:xfrm>
          <a:prstGeom prst="roundRect">
            <a:avLst>
              <a:gd fmla="val 5689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6" name="Google Shape;116;p8"/>
          <p:cNvSpPr/>
          <p:nvPr/>
        </p:nvSpPr>
        <p:spPr>
          <a:xfrm>
            <a:off x="4806881" y="1847870"/>
            <a:ext cx="41334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Heebo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Na A7 explicitamos a composição: a ordem </a:t>
            </a:r>
            <a:r>
              <a:rPr b="1" i="0" lang="en-US" sz="8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controla a criação dos seus itens de serviço</a:t>
            </a:r>
            <a:r>
              <a:rPr b="0" i="0" lang="en-US" sz="8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69425" y="2292787"/>
            <a:ext cx="44439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A7 apresenta o </a:t>
            </a:r>
            <a:r>
              <a:rPr b="1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esboço da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composição. No código atual, ItemServico é uma classe aninhada estática, com construtor privado; a OS cria os itens e retorna uma cópia imutável da lista.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8" title="647613596fb74e948e0ea84f8ecf392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4975" y="3716075"/>
            <a:ext cx="1016625" cy="1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5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Atividade 8 — Os equipamentos começaram a se diferenciar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1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Notebook</a:t>
            </a: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 </a:t>
            </a:r>
            <a:r>
              <a:rPr b="1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Desktop</a:t>
            </a: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são equipamentos com características próprias. A herança compartilha a estrutura comum e permite especializações.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Diagrama atualizado 1001"/>
          <p:cNvSpPr/>
          <p:nvPr/>
        </p:nvSpPr>
        <p:spPr>
          <a:xfrm>
            <a:off x="1370000" y="1150000"/>
            <a:ext cx="195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Equipamento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«classe abstrata»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tipo · marca · defeito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dados e validações comuns</a:t>
            </a:r>
            <a:endParaRPr lang="pt-BR"/>
          </a:p>
        </p:txBody>
      </p:sp>
      <p:sp>
        <p:nvSpPr>
          <p:cNvPr id="1002" name="Ligação 1002"/>
          <p:cNvSpPr/>
          <p:nvPr/>
        </p:nvSpPr>
        <p:spPr>
          <a:xfrm flipV="1">
            <a:off x="1395000" y="2150000"/>
            <a:ext cx="560000" cy="800000"/>
          </a:xfrm>
          <a:prstGeom prst="line">
            <a:avLst/>
          </a:prstGeom>
          <a:ln w="15000">
            <a:solidFill>
              <a:srgbClr val="2654FF"/>
            </a:solidFill>
          </a:ln>
        </p:spPr>
      </p:sp>
      <p:sp>
        <p:nvSpPr>
          <p:cNvPr id="1003" name="Triangle UML 1003"/>
          <p:cNvSpPr/>
          <p:nvPr/>
        </p:nvSpPr>
        <p:spPr>
          <a:xfrm>
            <a:off x="1842765" y="2150000"/>
            <a:ext cx="112234" cy="124523"/>
          </a:xfrm>
          <a:custGeom>
            <a:avLst/>
            <a:gdLst/>
            <a:ahLst/>
            <a:cxnLst/>
            <a:rect l="0" t="0" r="r" b="b"/>
            <a:pathLst>
              <a:path w="112234" h="124523">
                <a:moveTo>
                  <a:pt x="112234" y="0"/>
                </a:moveTo>
                <a:lnTo>
                  <a:pt x="98307" y="124523"/>
                </a:lnTo>
                <a:lnTo>
                  <a:pt x="0" y="55707"/>
                </a:lnTo>
                <a:close/>
              </a:path>
            </a:pathLst>
          </a:custGeom>
          <a:solidFill>
            <a:srgbClr val="FFFFFF"/>
          </a:solidFill>
          <a:ln w="15000">
            <a:solidFill>
              <a:srgbClr val="2654FF"/>
            </a:solidFill>
          </a:ln>
        </p:spPr>
      </p:sp>
      <p:sp>
        <p:nvSpPr>
          <p:cNvPr id="1004" name="Ligação 1004"/>
          <p:cNvSpPr/>
          <p:nvPr/>
        </p:nvSpPr>
        <p:spPr>
          <a:xfrm flipH="1" flipV="1">
            <a:off x="2735000" y="2150000"/>
            <a:ext cx="560000" cy="800000"/>
          </a:xfrm>
          <a:prstGeom prst="line">
            <a:avLst/>
          </a:prstGeom>
          <a:ln w="15000">
            <a:solidFill>
              <a:srgbClr val="2654FF"/>
            </a:solidFill>
          </a:ln>
        </p:spPr>
      </p:sp>
      <p:sp>
        <p:nvSpPr>
          <p:cNvPr id="1005" name="Triangle UML 1005"/>
          <p:cNvSpPr/>
          <p:nvPr/>
        </p:nvSpPr>
        <p:spPr>
          <a:xfrm>
            <a:off x="2735000" y="2150000"/>
            <a:ext cx="112234" cy="124523"/>
          </a:xfrm>
          <a:custGeom>
            <a:avLst/>
            <a:gdLst/>
            <a:ahLst/>
            <a:cxnLst/>
            <a:rect l="0" t="0" r="r" b="b"/>
            <a:pathLst>
              <a:path w="112234" h="124523">
                <a:moveTo>
                  <a:pt x="0" y="0"/>
                </a:moveTo>
                <a:lnTo>
                  <a:pt x="112234" y="55707"/>
                </a:lnTo>
                <a:lnTo>
                  <a:pt x="13926" y="124523"/>
                </a:lnTo>
                <a:close/>
              </a:path>
            </a:pathLst>
          </a:custGeom>
          <a:solidFill>
            <a:srgbClr val="FFFFFF"/>
          </a:solidFill>
          <a:ln w="15000">
            <a:solidFill>
              <a:srgbClr val="2654FF"/>
            </a:solidFill>
          </a:ln>
        </p:spPr>
      </p:sp>
      <p:sp>
        <p:nvSpPr>
          <p:cNvPr id="1006" name="Diagrama atualizado 1006"/>
          <p:cNvSpPr/>
          <p:nvPr/>
        </p:nvSpPr>
        <p:spPr>
          <a:xfrm>
            <a:off x="570000" y="2950000"/>
            <a:ext cx="165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Notebook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memoriaRamGb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@Override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descreverAtendimento()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16 GB de RAM</a:t>
            </a:r>
            <a:endParaRPr lang="pt-BR"/>
          </a:p>
        </p:txBody>
      </p:sp>
      <p:sp>
        <p:nvSpPr>
          <p:cNvPr id="1007" name="Diagrama atualizado 1007"/>
          <p:cNvSpPr/>
          <p:nvPr/>
        </p:nvSpPr>
        <p:spPr>
          <a:xfrm>
            <a:off x="2470000" y="2950000"/>
            <a:ext cx="165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Desktop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placaVideoDedicada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@Override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descreverAtendimento()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vídeo dedicado ou integrado</a:t>
            </a:r>
            <a:endParaRPr lang="pt-BR"/>
          </a:p>
        </p:txBody>
      </p:sp>
      <p:sp>
        <p:nvSpPr>
          <p:cNvPr id="128" name="Google Shape;128;p9"/>
          <p:cNvSpPr/>
          <p:nvPr/>
        </p:nvSpPr>
        <p:spPr>
          <a:xfrm>
            <a:off x="4979975" y="1222575"/>
            <a:ext cx="3989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650"/>
              <a:buFont typeface="Crimson Pro SemiBold"/>
              <a:buNone/>
            </a:pPr>
            <a:r>
              <a:rPr b="0" i="0" lang="en-US" sz="10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Como implementamos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979975" y="1542952"/>
            <a:ext cx="39894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71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Consolas"/>
              <a:buChar char="•"/>
            </a:pPr>
            <a:r>
              <a:rPr b="0" i="0" lang="en-US" sz="9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Equipamento</a:t>
            </a: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é a superclasse abstrata com dados e validações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1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Consolas"/>
              <a:buChar char="•"/>
            </a:pPr>
            <a:r>
              <a:rPr b="0" i="0" lang="en-US" sz="9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Notebook</a:t>
            </a: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 </a:t>
            </a:r>
            <a:r>
              <a:rPr b="0" i="0" lang="en-US" sz="9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Desktop</a:t>
            </a: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reutilizam a estrutura com </a:t>
            </a:r>
            <a:r>
              <a:rPr b="0" i="0" lang="en-US" sz="9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1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Heebo"/>
              <a:buChar char="•"/>
            </a:pP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RAM no Notebook; configuração de vídeo no Desktop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1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Heebo"/>
              <a:buChar char="•"/>
            </a:pP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descreverAtendimento() sobrescrito com </a:t>
            </a:r>
            <a:r>
              <a:rPr b="0" i="0" lang="en-US" sz="95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979975" y="2777816"/>
            <a:ext cx="3989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650"/>
              <a:buFont typeface="Crimson Pro SemiBold"/>
              <a:buNone/>
            </a:pPr>
            <a:r>
              <a:rPr b="0" i="0" lang="en-US" sz="10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Resultado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979969" y="2975680"/>
            <a:ext cx="4058100" cy="377700"/>
          </a:xfrm>
          <a:prstGeom prst="roundRect">
            <a:avLst>
              <a:gd fmla="val 2815" name="adj"/>
            </a:avLst>
          </a:prstGeom>
          <a:solidFill>
            <a:srgbClr val="FFFFFF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5060336" y="3056048"/>
            <a:ext cx="3897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650"/>
              <a:buFont typeface="Crimson Pro SemiBold"/>
              <a:buNone/>
            </a:pPr>
            <a:r>
              <a:rPr b="0" i="0" lang="en-US" sz="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NOTEBOOK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060336" y="3187984"/>
            <a:ext cx="38973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Dell | Não liga → 16 GB de RAM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979974" y="3396767"/>
            <a:ext cx="4058100" cy="377700"/>
          </a:xfrm>
          <a:prstGeom prst="roundRect">
            <a:avLst>
              <a:gd fmla="val 2815" name="adj"/>
            </a:avLst>
          </a:prstGeom>
          <a:solidFill>
            <a:srgbClr val="FFFFFF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060341" y="3477135"/>
            <a:ext cx="3897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650"/>
              <a:buFont typeface="Crimson Pro SemiBold"/>
              <a:buNone/>
            </a:pPr>
            <a:r>
              <a:rPr b="0" i="0" lang="en-US" sz="6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DESKTOP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060341" y="3609071"/>
            <a:ext cx="38973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Dell | Sem imagem → placa de vídeo dedicada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9" title="647613596fb74e948e0ea84f8ecf392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1725" y="3943525"/>
            <a:ext cx="1016626" cy="8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75019" y="319680"/>
            <a:ext cx="8151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5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Atividade 9 — O diagnóstico também precisava variar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5019" y="611979"/>
            <a:ext cx="86091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/>
            </a:r>
            <a:r>
              <a:rPr b="1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/>
            </a: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Notebook e Desktop fornecem roteiros próprios de verificação. A interface define o contrato comum consultado pela ordem de serviço.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75025" y="1844851"/>
            <a:ext cx="4879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795"/>
              <a:buFont typeface="Crimson Pro SemiBold"/>
              <a:buNone/>
            </a:pPr>
            <a:r>
              <a:rPr b="0" i="0" lang="en-US" sz="995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 Problema</a:t>
            </a:r>
            <a:endParaRPr b="0" i="0" sz="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75025" y="2051319"/>
            <a:ext cx="2418300" cy="511500"/>
          </a:xfrm>
          <a:prstGeom prst="roundRect">
            <a:avLst>
              <a:gd fmla="val 2851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111850" lIns="111850" spcFirstLastPara="1" rIns="111850" wrap="square" tIns="11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" name="Google Shape;148;p10"/>
          <p:cNvSpPr/>
          <p:nvPr/>
        </p:nvSpPr>
        <p:spPr>
          <a:xfrm>
            <a:off x="161675" y="2148480"/>
            <a:ext cx="22449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95"/>
              <a:buFont typeface="Crimson Pro SemiBold"/>
              <a:buNone/>
            </a:pPr>
            <a:r>
              <a:rPr b="0" i="0" lang="en-US" sz="995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NOTEBOOK</a:t>
            </a:r>
            <a:endParaRPr b="0" i="0" sz="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61675" y="2348926"/>
            <a:ext cx="2244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673"/>
              <a:buFont typeface="Heebo"/>
              <a:buNone/>
            </a:pPr>
            <a:r>
              <a:rPr b="0" i="0" lang="en-US" sz="873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Fonte → RAM → Disco e refrigeração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2536445" y="2051319"/>
            <a:ext cx="2418300" cy="511500"/>
          </a:xfrm>
          <a:prstGeom prst="roundRect">
            <a:avLst>
              <a:gd fmla="val 2851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111850" lIns="111850" spcFirstLastPara="1" rIns="111850" wrap="square" tIns="11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" name="Google Shape;151;p10"/>
          <p:cNvSpPr/>
          <p:nvPr/>
        </p:nvSpPr>
        <p:spPr>
          <a:xfrm>
            <a:off x="2623095" y="2148480"/>
            <a:ext cx="22449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95"/>
              <a:buFont typeface="Crimson Pro SemiBold"/>
              <a:buNone/>
            </a:pPr>
            <a:r>
              <a:rPr b="0" i="0" lang="en-US" sz="995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DESKTOP</a:t>
            </a:r>
            <a:endParaRPr b="0" i="0" sz="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2623095" y="2348926"/>
            <a:ext cx="2244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673"/>
              <a:buFont typeface="Heebo"/>
              <a:buNone/>
            </a:pPr>
            <a:r>
              <a:rPr b="0" i="0" lang="en-US" sz="873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Fonte → Placa-mãe / RAM / Disco → Vídeo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75032" y="3230192"/>
            <a:ext cx="39894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650"/>
              <a:buFont typeface="Crimson Pro SemiBold"/>
              <a:buNone/>
            </a:pPr>
            <a:r>
              <a:rPr b="0" i="0" lang="en-US" sz="9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 Solução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5032" y="3376341"/>
            <a:ext cx="44466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5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Cad</a:t>
            </a:r>
            <a:r>
              <a:rPr b="1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/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subclasse retorna etapas de verificação; o diagnóstico físico cabe ao técnico.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5032" y="3501208"/>
            <a:ext cx="3989400" cy="481800"/>
          </a:xfrm>
          <a:prstGeom prst="roundRect">
            <a:avLst>
              <a:gd fmla="val 220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10"/>
          <p:cNvSpPr/>
          <p:nvPr/>
        </p:nvSpPr>
        <p:spPr>
          <a:xfrm>
            <a:off x="160072" y="3572050"/>
            <a:ext cx="47529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5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public interface RoteiroDiagnostico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5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List&lt;String&gt; gerarRoteiroDiagnostico();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5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Diagrama atualizado 1008"/>
          <p:cNvSpPr/>
          <p:nvPr/>
        </p:nvSpPr>
        <p:spPr>
          <a:xfrm>
            <a:off x="5610000" y="1050000"/>
            <a:ext cx="266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RoteiroDiagnostico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«interface»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gerarRoteiroDiagnostico()</a:t>
            </a:r>
            <a:endParaRPr lang="pt-BR"/>
          </a:p>
        </p:txBody>
      </p:sp>
      <p:sp>
        <p:nvSpPr>
          <p:cNvPr id="1009" name="Diagrama atualizado 1009"/>
          <p:cNvSpPr/>
          <p:nvPr/>
        </p:nvSpPr>
        <p:spPr>
          <a:xfrm>
            <a:off x="5860000" y="2250000"/>
            <a:ext cx="216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Equipamento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«classe abstrata»</a:t>
            </a:r>
            <a:endParaRPr lang="pt-BR"/>
          </a:p>
        </p:txBody>
      </p:sp>
      <p:sp>
        <p:nvSpPr>
          <p:cNvPr id="1010" name="Ligação 1010"/>
          <p:cNvSpPr/>
          <p:nvPr/>
        </p:nvSpPr>
        <p:spPr>
          <a:xfrm flipV="1">
            <a:off x="6940000" y="1700000"/>
            <a:ext cx="0" cy="550000"/>
          </a:xfrm>
          <a:prstGeom prst="line">
            <a:avLst/>
          </a:prstGeom>
          <a:ln w="15000">
            <a:solidFill>
              <a:srgbClr val="2654FF"/>
            </a:solidFill>
            <a:prstDash val="dash"/>
          </a:ln>
        </p:spPr>
      </p:sp>
      <p:sp>
        <p:nvSpPr>
          <p:cNvPr id="1011" name="Triangle UML 1011"/>
          <p:cNvSpPr/>
          <p:nvPr/>
        </p:nvSpPr>
        <p:spPr>
          <a:xfrm>
            <a:off x="6880000" y="1700000"/>
            <a:ext cx="120000" cy="110000"/>
          </a:xfrm>
          <a:custGeom>
            <a:avLst/>
            <a:gdLst/>
            <a:ahLst/>
            <a:cxnLst/>
            <a:rect l="0" t="0" r="r" b="b"/>
            <a:pathLst>
              <a:path w="120000" h="110000">
                <a:moveTo>
                  <a:pt x="60000" y="0"/>
                </a:moveTo>
                <a:lnTo>
                  <a:pt x="120000" y="110000"/>
                </a:lnTo>
                <a:lnTo>
                  <a:pt x="0" y="110000"/>
                </a:lnTo>
                <a:close/>
              </a:path>
            </a:pathLst>
          </a:custGeom>
          <a:solidFill>
            <a:srgbClr val="FFFFFF"/>
          </a:solidFill>
          <a:ln w="15000">
            <a:solidFill>
              <a:srgbClr val="2654FF"/>
            </a:solidFill>
          </a:ln>
        </p:spPr>
      </p:sp>
      <p:sp>
        <p:nvSpPr>
          <p:cNvPr id="1012" name="Ligação 1012"/>
          <p:cNvSpPr/>
          <p:nvPr/>
        </p:nvSpPr>
        <p:spPr>
          <a:xfrm flipV="1">
            <a:off x="5985000" y="2900000"/>
            <a:ext cx="505000" cy="750000"/>
          </a:xfrm>
          <a:prstGeom prst="line">
            <a:avLst/>
          </a:prstGeom>
          <a:ln w="15000">
            <a:solidFill>
              <a:srgbClr val="2654FF"/>
            </a:solidFill>
          </a:ln>
        </p:spPr>
      </p:sp>
      <p:sp>
        <p:nvSpPr>
          <p:cNvPr id="1013" name="Triangle UML 1013"/>
          <p:cNvSpPr/>
          <p:nvPr/>
        </p:nvSpPr>
        <p:spPr>
          <a:xfrm>
            <a:off x="6378793" y="2900000"/>
            <a:ext cx="111206" cy="124755"/>
          </a:xfrm>
          <a:custGeom>
            <a:avLst/>
            <a:gdLst/>
            <a:ahLst/>
            <a:cxnLst/>
            <a:rect l="0" t="0" r="r" b="b"/>
            <a:pathLst>
              <a:path w="111206" h="124755">
                <a:moveTo>
                  <a:pt x="111206" y="0"/>
                </a:moveTo>
                <a:lnTo>
                  <a:pt x="99538" y="124755"/>
                </a:lnTo>
                <a:lnTo>
                  <a:pt x="0" y="57732"/>
                </a:lnTo>
                <a:close/>
              </a:path>
            </a:pathLst>
          </a:custGeom>
          <a:solidFill>
            <a:srgbClr val="FFFFFF"/>
          </a:solidFill>
          <a:ln w="15000">
            <a:solidFill>
              <a:srgbClr val="2654FF"/>
            </a:solidFill>
          </a:ln>
        </p:spPr>
      </p:sp>
      <p:sp>
        <p:nvSpPr>
          <p:cNvPr id="1014" name="Ligação 1014"/>
          <p:cNvSpPr/>
          <p:nvPr/>
        </p:nvSpPr>
        <p:spPr>
          <a:xfrm flipH="1" flipV="1">
            <a:off x="7390000" y="2900000"/>
            <a:ext cx="505000" cy="750000"/>
          </a:xfrm>
          <a:prstGeom prst="line">
            <a:avLst/>
          </a:prstGeom>
          <a:ln w="15000">
            <a:solidFill>
              <a:srgbClr val="2654FF"/>
            </a:solidFill>
          </a:ln>
        </p:spPr>
      </p:sp>
      <p:sp>
        <p:nvSpPr>
          <p:cNvPr id="1015" name="Triangle UML 1015"/>
          <p:cNvSpPr/>
          <p:nvPr/>
        </p:nvSpPr>
        <p:spPr>
          <a:xfrm>
            <a:off x="7390000" y="2900000"/>
            <a:ext cx="111206" cy="124755"/>
          </a:xfrm>
          <a:custGeom>
            <a:avLst/>
            <a:gdLst/>
            <a:ahLst/>
            <a:cxnLst/>
            <a:rect l="0" t="0" r="r" b="b"/>
            <a:pathLst>
              <a:path w="111206" h="124755">
                <a:moveTo>
                  <a:pt x="0" y="0"/>
                </a:moveTo>
                <a:lnTo>
                  <a:pt x="111206" y="57732"/>
                </a:lnTo>
                <a:lnTo>
                  <a:pt x="11668" y="124755"/>
                </a:lnTo>
                <a:close/>
              </a:path>
            </a:pathLst>
          </a:custGeom>
          <a:solidFill>
            <a:srgbClr val="FFFFFF"/>
          </a:solidFill>
          <a:ln w="15000">
            <a:solidFill>
              <a:srgbClr val="2654FF"/>
            </a:solidFill>
          </a:ln>
        </p:spPr>
      </p:sp>
      <p:sp>
        <p:nvSpPr>
          <p:cNvPr id="1016" name="Diagrama atualizado 1016"/>
          <p:cNvSpPr/>
          <p:nvPr/>
        </p:nvSpPr>
        <p:spPr>
          <a:xfrm>
            <a:off x="5110000" y="3650000"/>
            <a:ext cx="175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Notebook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fonte e conector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memória RAM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armazenamento e refrigeração</a:t>
            </a:r>
            <a:endParaRPr lang="pt-BR"/>
          </a:p>
        </p:txBody>
      </p:sp>
      <p:sp>
        <p:nvSpPr>
          <p:cNvPr id="1017" name="Diagrama atualizado 1017"/>
          <p:cNvSpPr/>
          <p:nvPr/>
        </p:nvSpPr>
        <p:spPr>
          <a:xfrm>
            <a:off x="7020000" y="3650000"/>
            <a:ext cx="175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2D47"/>
            </a:solidFill>
          </a:ln>
        </p:spPr>
        <p:txBody>
          <a:bodyPr wrap="square" lIns="40000" rIns="40000" tIns="50000" bIns="50000" anchor="ctr"/>
          <a:lstStyle/>
          <a:p>
            <a:pPr algn="ctr"/>
            <a:r>
              <a:rPr lang="pt-BR" sz="1400" b="1">
                <a:solidFill>
                  <a:srgbClr val="152D47"/>
                </a:solidFill>
                <a:latin typeface="Georgia"/>
              </a:rPr>
              <a:t>Desktop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fonte e cabos internos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placa-mãe, RAM e disco</a:t>
            </a:r>
            <a:endParaRPr lang="pt-BR"/>
          </a:p>
          <a:p>
            <a:pPr algn="ctr"/>
            <a:r>
              <a:rPr lang="pt-BR" sz="1050" b="0">
                <a:solidFill>
                  <a:srgbClr val="152D47"/>
                </a:solidFill>
                <a:latin typeface="Georgia"/>
              </a:rPr>
              <a:t>vídeo dedicado ou integrado</a:t>
            </a:r>
            <a:endParaRPr lang="pt-BR"/>
          </a:p>
        </p:txBody>
      </p:sp>
      <p:pic>
        <p:nvPicPr>
          <p:cNvPr id="158" name="Google Shape;158;p10" title="647613596fb74e948e0ea84f8ecf392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496119" y="408533"/>
            <a:ext cx="8151763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650"/>
              <a:buFont typeface="Crimson Pro SemiBold"/>
              <a:buNone/>
            </a:pPr>
            <a:r>
              <a:rPr b="0" i="0" lang="en-US" sz="26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Uma mesma chamada, comportamentos diferentes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96119" y="1152748"/>
            <a:ext cx="3911054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Código Integrado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96119" y="1508745"/>
            <a:ext cx="3911054" cy="1783333"/>
          </a:xfrm>
          <a:prstGeom prst="roundRect">
            <a:avLst>
              <a:gd fmla="val 113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58192" y="1643807"/>
            <a:ext cx="3586907" cy="151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List&lt;RoteiroDiagnostico&gt; roteiros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= List.of(notebook, desktop);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(RoteiroDiagnostico r : roteiros)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r.gerarRoteiroDiagnostico()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.forEach(System.out::println);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96119" y="3436962"/>
            <a:ext cx="3911054" cy="1153120"/>
          </a:xfrm>
          <a:prstGeom prst="roundRect">
            <a:avLst>
              <a:gd fmla="val 1758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80" y="3628802"/>
            <a:ext cx="168846" cy="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935087" y="3586535"/>
            <a:ext cx="3337024" cy="85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Heeb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Não precisamos de verificações de tipo como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b="0" i="0" lang="en-US" sz="10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no cliente. A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OrdemServico</a:t>
            </a:r>
            <a:r>
              <a:rPr b="0" i="0" lang="en-US" sz="10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trabalha com o contrato, enquanto cada equipamento fornece seu comportamento específico.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741590" y="1152748"/>
            <a:ext cx="3911054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Resultado da Execução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1590" y="1508745"/>
            <a:ext cx="1891159" cy="2427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4971901" y="1662857"/>
            <a:ext cx="150673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Notebook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971901" y="2002706"/>
            <a:ext cx="1506736" cy="1778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Verificar fonte e conector de alimentação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Testar os 16 GB de memória 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Verificar armazenamento e refrigeração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1485" y="1508745"/>
            <a:ext cx="1891159" cy="2427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/>
          <p:nvPr/>
        </p:nvSpPr>
        <p:spPr>
          <a:xfrm>
            <a:off x="6991796" y="1662857"/>
            <a:ext cx="150673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u="none" cap="none" strike="noStrike" sz="1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Desktop (vídeo dedicado)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991796" y="2002706"/>
            <a:ext cx="1506736" cy="135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Verificar fonte de alimentação e cabos internos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Testar placa-mãe, memória e armazenamento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Char char="•"/>
            </a:pP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Testar placa de vídeo dedicada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1" title="647613596fb74e948e0ea84f8ecf392f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496119" y="432495"/>
            <a:ext cx="8151763" cy="2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0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Validação dos incrementos implementados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96119" y="877937"/>
            <a:ext cx="403949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350"/>
              <a:buFont typeface="Crimson Pro SemiBold"/>
              <a:buNone/>
            </a:pPr>
            <a:r>
              <a:rPr b="0" i="0" lang="en-US" sz="2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14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496081" y="1266676"/>
            <a:ext cx="403949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Testes na A9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496119" y="1443484"/>
            <a:ext cx="403949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0 falhas · 0 erros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4608314" y="877937"/>
            <a:ext cx="4039567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350"/>
              <a:buFont typeface="Crimson Pro SemiBold"/>
              <a:buNone/>
            </a:pPr>
            <a:r>
              <a:rPr b="0" i="0" lang="en-US" sz="2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4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608314" y="1266676"/>
            <a:ext cx="403956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EquipamentoTest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4608314" y="1443484"/>
            <a:ext cx="4039567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Descrições, dados herdados e marca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96119" y="1724323"/>
            <a:ext cx="4039493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350"/>
              <a:buFont typeface="Crimson Pro SemiBold"/>
              <a:buNone/>
            </a:pPr>
            <a:r>
              <a:rPr b="0" i="0" lang="en-US" sz="2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4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496081" y="2113062"/>
            <a:ext cx="403949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OrdemServicoTest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96119" y="2289870"/>
            <a:ext cx="403949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Cliente, ordem nula e status da 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608314" y="1724323"/>
            <a:ext cx="4039567" cy="29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350"/>
              <a:buFont typeface="Crimson Pro SemiBold"/>
              <a:buNone/>
            </a:pPr>
            <a:r>
              <a:rPr b="0" i="0" lang="en-US" sz="2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6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4608314" y="2113062"/>
            <a:ext cx="403956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RoteiroDiagnosticoTest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608314" y="2289870"/>
            <a:ext cx="4039567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Roteiros, contrato e integração com a 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96119" y="2532534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Evolução dos Testes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496119" y="2739851"/>
            <a:ext cx="181570" cy="11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Crimson Pro Light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96119" y="2884661"/>
            <a:ext cx="3965153" cy="9525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496119" y="2949104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96119" y="3149129"/>
            <a:ext cx="396515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Teste de rejeição de ordem nula no cliente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96119" y="3394472"/>
            <a:ext cx="181570" cy="11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Crimson Pro Light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96119" y="3539282"/>
            <a:ext cx="3965153" cy="9525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96119" y="3603724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96119" y="3803749"/>
            <a:ext cx="396515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8 testes — validação de herança e especialização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96119" y="4049092"/>
            <a:ext cx="181570" cy="11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Crimson Pro Light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96119" y="4193902"/>
            <a:ext cx="3965153" cy="9525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496119" y="4258345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96119" y="4458370"/>
            <a:ext cx="396515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14 testes — roteiros, polimorfismo e integração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740041" y="2835959"/>
            <a:ext cx="3965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850"/>
              <a:buFont typeface="Crimson Pro SemiBold"/>
              <a:buNone/>
            </a:pPr>
            <a:r>
              <a:rPr b="0" i="0" lang="en-US" sz="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 que os testes verificam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740041" y="3035984"/>
            <a:ext cx="3965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Descrições e dados herdados dos equipamentos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Etapas esperadas e configuração de vídeo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Despacho polimórfico pela interface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Delegação da OS sem </a:t>
            </a:r>
            <a:r>
              <a:rPr b="0" i="0" lang="en-US" sz="700" u="none" cap="none" strike="noStrike">
                <a:solidFill>
                  <a:srgbClr val="4C4C4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alterar seu status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Char char="•"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Lista imutável e consulta repetível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740041" y="3783101"/>
            <a:ext cx="3965100" cy="269100"/>
          </a:xfrm>
          <a:prstGeom prst="roundRect">
            <a:avLst>
              <a:gd fmla="val 5061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8276" y="3566740"/>
            <a:ext cx="113481" cy="9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5035092" y="3858110"/>
            <a:ext cx="40365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ebo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BUILD SUCCESS</a:t>
            </a:r>
            <a:r>
              <a:rPr b="0" i="0" lang="en-US" sz="70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— 14 testes, 0 falhas, 0 erros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2" title="647613596fb74e948e0ea84f8ecf392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/>
          <p:nvPr/>
        </p:nvSpPr>
        <p:spPr>
          <a:xfrm>
            <a:off x="496119" y="409054"/>
            <a:ext cx="815176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850"/>
              <a:buFont typeface="Crimson Pro SemiBold"/>
              <a:buNone/>
            </a:pPr>
            <a:r>
              <a:rPr b="0" i="0" lang="en-US" sz="18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 onde começamos até a AP2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347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/>
          <p:nvPr/>
        </p:nvSpPr>
        <p:spPr>
          <a:xfrm>
            <a:off x="1036365" y="9299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AP1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036365" y="11171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Estrutura inicial do domínio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4062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/>
          <p:nvPr/>
        </p:nvSpPr>
        <p:spPr>
          <a:xfrm>
            <a:off x="1036365" y="15014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036365" y="16886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Organização dos relacionamentos com coleções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19777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/>
          <p:nvPr/>
        </p:nvSpPr>
        <p:spPr>
          <a:xfrm>
            <a:off x="1036365" y="20729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036365" y="22601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Modelagem de composição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5492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/>
          <p:nvPr/>
        </p:nvSpPr>
        <p:spPr>
          <a:xfrm>
            <a:off x="1036365" y="26444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036365" y="28316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Especialização de Notebook e Desktop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1207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/>
          <p:nvPr/>
        </p:nvSpPr>
        <p:spPr>
          <a:xfrm>
            <a:off x="1036365" y="32159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1036365" y="34031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Roteiros polimórficos de diagnóstico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119" y="3692203"/>
            <a:ext cx="476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/>
          <p:nvPr/>
        </p:nvSpPr>
        <p:spPr>
          <a:xfrm>
            <a:off x="1036365" y="3787453"/>
            <a:ext cx="7611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Crimson Pro SemiBold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AP2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036365" y="3974678"/>
            <a:ext cx="7611517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Integração Java + testes + defesa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38994" y="4407619"/>
            <a:ext cx="8008888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"A AP2 reúne a </a:t>
            </a:r>
            <a:r>
              <a:rPr b="1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evolução do modelo Java: coleções, composição, herança e polimorfismo. A integração demonstrada ocorre entre os objetos Java; a interface web é uma implementaçã</a:t>
            </a: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 separada</a:t>
            </a:r>
            <a:r>
              <a:rPr b="1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/>
            </a: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96119" y="4335661"/>
            <a:ext cx="14288" cy="398711"/>
          </a:xfrm>
          <a:prstGeom prst="roundRect">
            <a:avLst>
              <a:gd fmla="val 49998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13" title="647613596fb74e948e0ea84f8ecf392f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4975" y="4864125"/>
            <a:ext cx="1016626" cy="2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3" title="Bolsonaro Rindo GIF.gi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11675" y="355750"/>
            <a:ext cx="3690074" cy="36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